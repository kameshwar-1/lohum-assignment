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1"/>
  </p:sldMasterIdLst>
  <p:sldIdLst>
    <p:sldId id="256" r:id="rId2"/>
    <p:sldId id="257" r:id="rId3"/>
    <p:sldId id="259"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38" y="-1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384165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11EAACC7-3B3F-47D1-959A-EF58926E955E}" type="datetimeFigureOut">
              <a:rPr lang="en-US" smtClean="0"/>
              <a:t>12/3/2025</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017290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607667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611158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889111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942995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855242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983630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551372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57298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11EAACC7-3B3F-47D1-959A-EF58926E955E}" type="datetimeFigureOut">
              <a:rPr lang="en-US" smtClean="0"/>
              <a:t>12/3/2025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084592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11EAACC7-3B3F-47D1-959A-EF58926E955E}" type="datetimeFigureOut">
              <a:rPr lang="en-US" smtClean="0"/>
              <a:t>12/3/2025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2042796048"/>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85" r:id="rId6"/>
    <p:sldLayoutId id="2147483881" r:id="rId7"/>
    <p:sldLayoutId id="2147483882" r:id="rId8"/>
    <p:sldLayoutId id="2147483883" r:id="rId9"/>
    <p:sldLayoutId id="2147483884" r:id="rId10"/>
    <p:sldLayoutId id="2147483886" r:id="rId11"/>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82950D9A-4705-4314-961A-4F88B2CE4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22735A2D-8377-F1EB-3156-466FEEBCC4CE}"/>
              </a:ext>
            </a:extLst>
          </p:cNvPr>
          <p:cNvSpPr>
            <a:spLocks noGrp="1"/>
          </p:cNvSpPr>
          <p:nvPr>
            <p:ph type="subTitle" idx="1"/>
          </p:nvPr>
        </p:nvSpPr>
        <p:spPr>
          <a:xfrm>
            <a:off x="245805" y="422787"/>
            <a:ext cx="10471355" cy="5300792"/>
          </a:xfrm>
        </p:spPr>
        <p:txBody>
          <a:bodyPr>
            <a:normAutofit fontScale="85000" lnSpcReduction="20000"/>
          </a:bodyPr>
          <a:lstStyle/>
          <a:p>
            <a:pPr algn="l"/>
            <a:r>
              <a:rPr lang="en-US" u="sng" dirty="0">
                <a:latin typeface="Arial" panose="020B0604020202020204" pitchFamily="34" charset="0"/>
                <a:cs typeface="Arial" panose="020B0604020202020204" pitchFamily="34" charset="0"/>
              </a:rPr>
              <a:t>Licensing &amp; Permitting:</a:t>
            </a:r>
          </a:p>
          <a:p>
            <a:pPr algn="l"/>
            <a:r>
              <a:rPr lang="en-US" sz="1300" b="0" dirty="0">
                <a:latin typeface="Arial" panose="020B0604020202020204" pitchFamily="34" charset="0"/>
                <a:cs typeface="Arial" panose="020B0604020202020204" pitchFamily="34" charset="0"/>
              </a:rPr>
              <a:t>Mining companies must secure several government approvals before operations begin. As shown in Rio Tinto’s </a:t>
            </a:r>
            <a:r>
              <a:rPr lang="en-US" sz="1300" b="0" dirty="0" err="1">
                <a:latin typeface="Arial" panose="020B0604020202020204" pitchFamily="34" charset="0"/>
                <a:cs typeface="Arial" panose="020B0604020202020204" pitchFamily="34" charset="0"/>
              </a:rPr>
              <a:t>Winu</a:t>
            </a:r>
            <a:r>
              <a:rPr lang="en-US" sz="1300" b="0" dirty="0">
                <a:latin typeface="Arial" panose="020B0604020202020204" pitchFamily="34" charset="0"/>
                <a:cs typeface="Arial" panose="020B0604020202020204" pitchFamily="34" charset="0"/>
              </a:rPr>
              <a:t> project:</a:t>
            </a:r>
          </a:p>
          <a:p>
            <a:pPr marL="285750" indent="-285750" algn="l">
              <a:buFont typeface="Arial" panose="020B0604020202020204" pitchFamily="34" charset="0"/>
              <a:buChar char="•"/>
            </a:pPr>
            <a:r>
              <a:rPr lang="en-US" sz="1300" b="0" dirty="0">
                <a:latin typeface="Arial" panose="020B0604020202020204" pitchFamily="34" charset="0"/>
                <a:cs typeface="Arial" panose="020B0604020202020204" pitchFamily="34" charset="0"/>
              </a:rPr>
              <a:t>They first obtain an Exploration License (e.g., License E45/4833) to legally explore the land for minerals.</a:t>
            </a:r>
          </a:p>
          <a:p>
            <a:pPr marL="285750" indent="-285750" algn="l">
              <a:buFont typeface="Arial" panose="020B0604020202020204" pitchFamily="34" charset="0"/>
              <a:buChar char="•"/>
            </a:pPr>
            <a:r>
              <a:rPr lang="en-US" sz="1300" b="0" dirty="0">
                <a:latin typeface="Arial" panose="020B0604020202020204" pitchFamily="34" charset="0"/>
                <a:cs typeface="Arial" panose="020B0604020202020204" pitchFamily="34" charset="0"/>
              </a:rPr>
              <a:t>They secure Miscellaneous Licenses for road access, camp setup, airstrips, and supporting infrastructure.</a:t>
            </a:r>
          </a:p>
          <a:p>
            <a:pPr marL="285750" indent="-285750" algn="l">
              <a:buFont typeface="Arial" panose="020B0604020202020204" pitchFamily="34" charset="0"/>
              <a:buChar char="•"/>
            </a:pPr>
            <a:r>
              <a:rPr lang="en-US" sz="1300" b="0" dirty="0">
                <a:latin typeface="Arial" panose="020B0604020202020204" pitchFamily="34" charset="0"/>
                <a:cs typeface="Arial" panose="020B0604020202020204" pitchFamily="34" charset="0"/>
              </a:rPr>
              <a:t>They then file a Mining Lease Application (e.g., M45/1288), which must receive formal government approval before extraction can start.</a:t>
            </a:r>
          </a:p>
          <a:p>
            <a:pPr algn="l"/>
            <a:r>
              <a:rPr lang="en-US" u="sng" dirty="0">
                <a:latin typeface="Arial" panose="020B0604020202020204" pitchFamily="34" charset="0"/>
                <a:cs typeface="Arial" panose="020B0604020202020204" pitchFamily="34" charset="0"/>
              </a:rPr>
              <a:t>Exploration-BHP Example</a:t>
            </a:r>
          </a:p>
          <a:p>
            <a:pPr algn="l"/>
            <a:r>
              <a:rPr lang="en-US" sz="1400" b="0" dirty="0">
                <a:latin typeface="Arial" panose="020B0604020202020204" pitchFamily="34" charset="0"/>
                <a:cs typeface="Arial" panose="020B0604020202020204" pitchFamily="34" charset="0"/>
              </a:rPr>
              <a:t>Mining companies conduct early-stage exploration to identify viable mineral deposits. BHP states that in FY2024 it advanced exploration opportunities across Australia, Canada, Chile, Peru, Sweden, Serbia and the US, involving prospect testing and concept evaluation. The company spent US$457 million on exploration and resource assessment.</a:t>
            </a:r>
            <a:br>
              <a:rPr lang="en-US" sz="1400" b="0" dirty="0">
                <a:latin typeface="Arial" panose="020B0604020202020204" pitchFamily="34" charset="0"/>
                <a:cs typeface="Arial" panose="020B0604020202020204" pitchFamily="34" charset="0"/>
              </a:rPr>
            </a:br>
            <a:r>
              <a:rPr lang="en-US" sz="1400" b="0" dirty="0">
                <a:latin typeface="Arial" panose="020B0604020202020204" pitchFamily="34" charset="0"/>
                <a:cs typeface="Arial" panose="020B0604020202020204" pitchFamily="34" charset="0"/>
              </a:rPr>
              <a:t>(Citations: BHP Annual Report 2024)</a:t>
            </a:r>
            <a:br>
              <a:rPr lang="en-US" dirty="0"/>
            </a:br>
            <a:endParaRPr lang="en-US" dirty="0">
              <a:latin typeface="Arial" panose="020B0604020202020204" pitchFamily="34" charset="0"/>
              <a:cs typeface="Arial" panose="020B0604020202020204" pitchFamily="34" charset="0"/>
            </a:endParaRPr>
          </a:p>
          <a:p>
            <a:pPr algn="l"/>
            <a:r>
              <a:rPr lang="en-US" sz="1500" u="sng" dirty="0">
                <a:latin typeface="Arial" panose="020B0604020202020204" pitchFamily="34" charset="0"/>
                <a:cs typeface="Arial" panose="020B0604020202020204" pitchFamily="34" charset="0"/>
              </a:rPr>
              <a:t>Extraction :</a:t>
            </a:r>
          </a:p>
          <a:p>
            <a:pPr algn="l"/>
            <a:r>
              <a:rPr lang="en-US" sz="1400" b="0" dirty="0">
                <a:latin typeface="Arial" panose="020B0604020202020204" pitchFamily="34" charset="0"/>
                <a:cs typeface="Arial" panose="020B0604020202020204" pitchFamily="34" charset="0"/>
              </a:rPr>
              <a:t>Extraction is the core operation where the mineral ore is physically removed from the earth through open-cut or underground mining. For example, BHP’s Mt Arthur Coal mine is permitted to conduct “extraction of up to 36 Mtpa of run-of-mine coal from underground and open-cut operations. BHP</a:t>
            </a:r>
          </a:p>
          <a:p>
            <a:pPr algn="l"/>
            <a:endParaRPr lang="en-US" sz="1200" b="0" dirty="0">
              <a:latin typeface="Arial" panose="020B0604020202020204" pitchFamily="34" charset="0"/>
              <a:cs typeface="Arial" panose="020B0604020202020204" pitchFamily="34" charset="0"/>
            </a:endParaRPr>
          </a:p>
          <a:p>
            <a:pPr algn="l"/>
            <a:endParaRPr lang="en-US" b="0" dirty="0">
              <a:latin typeface="Arial" panose="020B0604020202020204" pitchFamily="34" charset="0"/>
              <a:cs typeface="Arial" panose="020B0604020202020204" pitchFamily="34" charset="0"/>
            </a:endParaRPr>
          </a:p>
          <a:p>
            <a:pPr algn="l"/>
            <a:endParaRPr lang="en-US" sz="1100" b="0" dirty="0">
              <a:latin typeface="Arial" panose="020B0604020202020204" pitchFamily="34" charset="0"/>
              <a:cs typeface="Arial" panose="020B0604020202020204" pitchFamily="34" charset="0"/>
            </a:endParaRPr>
          </a:p>
          <a:p>
            <a:pPr algn="l"/>
            <a:endParaRPr lang="en-US" sz="1100" b="0" dirty="0">
              <a:latin typeface="Arial" panose="020B0604020202020204" pitchFamily="34" charset="0"/>
              <a:cs typeface="Arial" panose="020B0604020202020204" pitchFamily="34" charset="0"/>
            </a:endParaRPr>
          </a:p>
          <a:p>
            <a:pPr algn="l"/>
            <a:endParaRPr lang="en-US" sz="1400" b="0" dirty="0">
              <a:latin typeface="Arial" panose="020B0604020202020204" pitchFamily="34" charset="0"/>
              <a:cs typeface="Arial" panose="020B0604020202020204" pitchFamily="34" charset="0"/>
            </a:endParaRPr>
          </a:p>
        </p:txBody>
      </p:sp>
      <p:pic>
        <p:nvPicPr>
          <p:cNvPr id="4" name="Picture 3" descr="A close-up of a network&#10;&#10;AI-generated content may be incorrect.">
            <a:extLst>
              <a:ext uri="{FF2B5EF4-FFF2-40B4-BE49-F238E27FC236}">
                <a16:creationId xmlns:a16="http://schemas.microsoft.com/office/drawing/2014/main" id="{D8C71F22-B992-30AB-3A97-0C199B6AC20A}"/>
              </a:ext>
            </a:extLst>
          </p:cNvPr>
          <p:cNvPicPr>
            <a:picLocks noChangeAspect="1"/>
          </p:cNvPicPr>
          <p:nvPr/>
        </p:nvPicPr>
        <p:blipFill>
          <a:blip r:embed="rId2"/>
          <a:srcRect l="52569" r="15412"/>
          <a:stretch>
            <a:fillRect/>
          </a:stretch>
        </p:blipFill>
        <p:spPr>
          <a:xfrm>
            <a:off x="10402529" y="-4762"/>
            <a:ext cx="1797554" cy="6886079"/>
          </a:xfrm>
          <a:custGeom>
            <a:avLst/>
            <a:gdLst/>
            <a:ahLst/>
            <a:cxnLst/>
            <a:rect l="l" t="t" r="r" b="b"/>
            <a:pathLst>
              <a:path w="3541857" h="6886079">
                <a:moveTo>
                  <a:pt x="1248072" y="0"/>
                </a:moveTo>
                <a:lnTo>
                  <a:pt x="3541857" y="0"/>
                </a:lnTo>
                <a:lnTo>
                  <a:pt x="3541857" y="6886079"/>
                </a:lnTo>
                <a:lnTo>
                  <a:pt x="0" y="6864521"/>
                </a:lnTo>
                <a:close/>
              </a:path>
            </a:pathLst>
          </a:custGeom>
        </p:spPr>
      </p:pic>
      <p:cxnSp>
        <p:nvCxnSpPr>
          <p:cNvPr id="58" name="Straight Connector 57">
            <a:extLst>
              <a:ext uri="{FF2B5EF4-FFF2-40B4-BE49-F238E27FC236}">
                <a16:creationId xmlns:a16="http://schemas.microsoft.com/office/drawing/2014/main" id="{13AC671C-E66F-43C5-A66A-C477339DD2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878186" y="1"/>
            <a:ext cx="345294" cy="688131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EE10AC2-20ED-4628-9A8E-14F8437B55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794205" y="-4764"/>
            <a:ext cx="5397796" cy="104143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615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5FCDB4-DBD4-1502-38E7-D5E11C445882}"/>
              </a:ext>
            </a:extLst>
          </p:cNvPr>
          <p:cNvSpPr>
            <a:spLocks noGrp="1"/>
          </p:cNvSpPr>
          <p:nvPr>
            <p:ph idx="1"/>
          </p:nvPr>
        </p:nvSpPr>
        <p:spPr>
          <a:xfrm>
            <a:off x="721360" y="467360"/>
            <a:ext cx="10327640" cy="6136640"/>
          </a:xfrm>
        </p:spPr>
        <p:txBody>
          <a:bodyPr>
            <a:normAutofit lnSpcReduction="10000"/>
          </a:bodyPr>
          <a:lstStyle/>
          <a:p>
            <a:pPr marL="0" indent="0">
              <a:buNone/>
            </a:pPr>
            <a:r>
              <a:rPr lang="en-US" sz="1400" b="1" u="sng" dirty="0">
                <a:latin typeface="Arial" panose="020B0604020202020204" pitchFamily="34" charset="0"/>
                <a:cs typeface="Arial" panose="020B0604020202020204" pitchFamily="34" charset="0"/>
              </a:rPr>
              <a:t>Concentration of Ore (Beneficiation):</a:t>
            </a:r>
          </a:p>
          <a:p>
            <a:pPr marL="0" indent="0">
              <a:buNone/>
            </a:pPr>
            <a:r>
              <a:rPr lang="en-US" sz="1200" dirty="0">
                <a:latin typeface="Arial" panose="020B0604020202020204" pitchFamily="34" charset="0"/>
                <a:cs typeface="Arial" panose="020B0604020202020204" pitchFamily="34" charset="0"/>
              </a:rPr>
              <a:t>Mining companies process raw ore to increase metal grade before refining. This includes crushing, grinding, washing, flotation, and other beneficiation steps.</a:t>
            </a:r>
          </a:p>
          <a:p>
            <a:r>
              <a:rPr lang="en-US" sz="1200" dirty="0">
                <a:latin typeface="Arial" panose="020B0604020202020204" pitchFamily="34" charset="0"/>
                <a:cs typeface="Arial" panose="020B0604020202020204" pitchFamily="34" charset="0"/>
              </a:rPr>
              <a:t>BHP states that iron ore is “crushed, beneficiated (where necessary) and blended at the processing hubs.”</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(BHP Annual Report 2024)</a:t>
            </a:r>
          </a:p>
          <a:p>
            <a:r>
              <a:rPr lang="en-US" sz="1200" dirty="0">
                <a:latin typeface="Arial" panose="020B0604020202020204" pitchFamily="34" charset="0"/>
                <a:cs typeface="Arial" panose="020B0604020202020204" pitchFamily="34" charset="0"/>
              </a:rPr>
              <a:t>Their glossary also notes that certain ores undergo “grinding/flotation concentration processes.”</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(BHP Annual Report 2024)</a:t>
            </a:r>
          </a:p>
          <a:p>
            <a:r>
              <a:rPr lang="en-US" sz="1200" dirty="0">
                <a:latin typeface="Arial" panose="020B0604020202020204" pitchFamily="34" charset="0"/>
                <a:cs typeface="Arial" panose="020B0604020202020204" pitchFamily="34" charset="0"/>
              </a:rPr>
              <a:t>Glencore reports operating “concentrator… beneficiation plants” in its industrial facilities.</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(Glencore Sustainability Report 2023)</a:t>
            </a:r>
          </a:p>
          <a:p>
            <a:r>
              <a:rPr lang="en-US" sz="1200" dirty="0">
                <a:latin typeface="Arial" panose="020B0604020202020204" pitchFamily="34" charset="0"/>
                <a:cs typeface="Arial" panose="020B0604020202020204" pitchFamily="34" charset="0"/>
              </a:rPr>
              <a:t>Rio Tinto indicates processing of ore (e.g., “ilmenite mined… processed in Canada”), a key beneficiation step.</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(Rio Tinto Annual Report 2024)</a:t>
            </a:r>
          </a:p>
          <a:p>
            <a:pPr marL="0" indent="0">
              <a:buNone/>
            </a:pPr>
            <a:r>
              <a:rPr lang="en-US" sz="1400" b="1" u="sng" dirty="0">
                <a:latin typeface="Arial" panose="020B0604020202020204" pitchFamily="34" charset="0"/>
                <a:cs typeface="Arial" panose="020B0604020202020204" pitchFamily="34" charset="0"/>
              </a:rPr>
              <a:t>Mineral Refining (Smelting / Hydrometallurgy):</a:t>
            </a:r>
          </a:p>
          <a:p>
            <a:pPr marL="0" indent="0">
              <a:buNone/>
            </a:pPr>
            <a:r>
              <a:rPr lang="en-US" sz="1200" dirty="0">
                <a:latin typeface="Arial" panose="020B0604020202020204" pitchFamily="34" charset="0"/>
                <a:cs typeface="Arial" panose="020B0604020202020204" pitchFamily="34" charset="0"/>
              </a:rPr>
              <a:t>Refining converts concentrated ore into pure metal through smelting, solvent extraction, or chemical processing.</a:t>
            </a:r>
          </a:p>
          <a:p>
            <a:r>
              <a:rPr lang="en-US" sz="1200" dirty="0">
                <a:latin typeface="Arial" panose="020B0604020202020204" pitchFamily="34" charset="0"/>
                <a:cs typeface="Arial" panose="020B0604020202020204" pitchFamily="34" charset="0"/>
              </a:rPr>
              <a:t>BHP defines “Smelting — the process of extracting metal from its ore by heating and melting,” and also highlights solvent extraction for metal separation. (BHP Annual Report 2024)</a:t>
            </a:r>
          </a:p>
          <a:p>
            <a:r>
              <a:rPr lang="en-US" sz="1200" dirty="0">
                <a:latin typeface="Arial" panose="020B0604020202020204" pitchFamily="34" charset="0"/>
                <a:cs typeface="Arial" panose="020B0604020202020204" pitchFamily="34" charset="0"/>
              </a:rPr>
              <a:t>Glencore describes its industrial operations as involving “processing of minerals and metals”, which includes refining.</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(Glencore Sustainability Report 2023)</a:t>
            </a:r>
          </a:p>
          <a:p>
            <a:r>
              <a:rPr lang="en-US" sz="1200" dirty="0">
                <a:latin typeface="Arial" panose="020B0604020202020204" pitchFamily="34" charset="0"/>
                <a:cs typeface="Arial" panose="020B0604020202020204" pitchFamily="34" charset="0"/>
              </a:rPr>
              <a:t>Rio Tinto reports ore being processed into refined mineral feedstocks (e.g., ilmenite → </a:t>
            </a:r>
            <a:r>
              <a:rPr lang="en-US" sz="1200" dirty="0" err="1">
                <a:latin typeface="Arial" panose="020B0604020202020204" pitchFamily="34" charset="0"/>
                <a:cs typeface="Arial" panose="020B0604020202020204" pitchFamily="34" charset="0"/>
              </a:rPr>
              <a:t>TiO</a:t>
            </a:r>
            <a:r>
              <a:rPr lang="en-US" sz="1200" dirty="0">
                <a:latin typeface="Arial" panose="020B0604020202020204" pitchFamily="34" charset="0"/>
                <a:cs typeface="Arial" panose="020B0604020202020204" pitchFamily="34" charset="0"/>
              </a:rPr>
              <a:t>₂ feedstock).</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(Rio Tinto Annual Report 2024)</a:t>
            </a:r>
          </a:p>
          <a:p>
            <a:pPr marL="0" indent="0">
              <a:buNone/>
            </a:pPr>
            <a:r>
              <a:rPr lang="en-US" sz="1400" b="1" u="sng" dirty="0">
                <a:latin typeface="Arial" panose="020B0604020202020204" pitchFamily="34" charset="0"/>
                <a:cs typeface="Arial" panose="020B0604020202020204" pitchFamily="34" charset="0"/>
              </a:rPr>
              <a:t>Transportation &amp; Logistics (A Core Mining Operation)</a:t>
            </a:r>
          </a:p>
          <a:p>
            <a:pPr marL="0" indent="0">
              <a:buNone/>
            </a:pPr>
            <a:r>
              <a:rPr lang="en-US" sz="1200" dirty="0">
                <a:latin typeface="Arial" panose="020B0604020202020204" pitchFamily="34" charset="0"/>
                <a:cs typeface="Arial" panose="020B0604020202020204" pitchFamily="34" charset="0"/>
              </a:rPr>
              <a:t>After concentration and refining, mining companies must transport minerals to ports, customers, smelters, or processing plants. This includes large-scale rail, road, conveyor, pipeline, and shipping operations. For example:</a:t>
            </a:r>
          </a:p>
          <a:p>
            <a:r>
              <a:rPr lang="en-US" sz="1200" dirty="0">
                <a:latin typeface="Arial" panose="020B0604020202020204" pitchFamily="34" charset="0"/>
                <a:cs typeface="Arial" panose="020B0604020202020204" pitchFamily="34" charset="0"/>
              </a:rPr>
              <a:t>Rio Tinto describes transporting ore from multiple mine sites to processing hubs and port export terminals.</a:t>
            </a:r>
            <a:br>
              <a:rPr lang="en-US" sz="1200" dirty="0">
                <a:latin typeface="Arial" panose="020B0604020202020204" pitchFamily="34" charset="0"/>
                <a:cs typeface="Arial" panose="020B0604020202020204" pitchFamily="34" charset="0"/>
              </a:rPr>
            </a:br>
            <a:r>
              <a:rPr lang="en-US" sz="1200" i="1" dirty="0">
                <a:latin typeface="Arial" panose="020B0604020202020204" pitchFamily="34" charset="0"/>
                <a:cs typeface="Arial" panose="020B0604020202020204" pitchFamily="34" charset="0"/>
              </a:rPr>
              <a:t>(Rio Tinto Annual Report 2024)</a:t>
            </a:r>
          </a:p>
          <a:p>
            <a:endParaRPr lang="en-US" sz="1200" b="1" i="1" dirty="0">
              <a:latin typeface="Arial" panose="020B0604020202020204" pitchFamily="34" charset="0"/>
              <a:cs typeface="Arial" panose="020B0604020202020204" pitchFamily="34" charset="0"/>
            </a:endParaRPr>
          </a:p>
          <a:p>
            <a:endParaRPr lang="en-US" sz="1400" i="1" dirty="0"/>
          </a:p>
          <a:p>
            <a:endParaRPr lang="en-US" sz="1400" dirty="0"/>
          </a:p>
          <a:p>
            <a:endParaRPr lang="en-US" sz="1400" b="1" dirty="0">
              <a:latin typeface="Arial" panose="020B0604020202020204" pitchFamily="34" charset="0"/>
              <a:cs typeface="Arial" panose="020B0604020202020204" pitchFamily="34" charset="0"/>
            </a:endParaRPr>
          </a:p>
          <a:p>
            <a:endParaRPr lang="en-US" sz="1800" dirty="0"/>
          </a:p>
        </p:txBody>
      </p:sp>
    </p:spTree>
    <p:extLst>
      <p:ext uri="{BB962C8B-B14F-4D97-AF65-F5344CB8AC3E}">
        <p14:creationId xmlns:p14="http://schemas.microsoft.com/office/powerpoint/2010/main" val="964238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0C2246-8F5D-3902-E7FF-989695225A35}"/>
              </a:ext>
            </a:extLst>
          </p:cNvPr>
          <p:cNvSpPr>
            <a:spLocks noGrp="1"/>
          </p:cNvSpPr>
          <p:nvPr>
            <p:ph idx="1"/>
          </p:nvPr>
        </p:nvSpPr>
        <p:spPr>
          <a:xfrm>
            <a:off x="1143000" y="609600"/>
            <a:ext cx="9906000" cy="5659120"/>
          </a:xfrm>
        </p:spPr>
        <p:txBody>
          <a:bodyPr>
            <a:normAutofit fontScale="92500" lnSpcReduction="20000"/>
          </a:bodyPr>
          <a:lstStyle/>
          <a:p>
            <a:pPr marL="0" indent="0">
              <a:buNone/>
            </a:pPr>
            <a:r>
              <a:rPr lang="en-US" sz="1700" b="1" u="sng" dirty="0">
                <a:latin typeface="Arial" panose="020B0604020202020204" pitchFamily="34" charset="0"/>
                <a:cs typeface="Arial" panose="020B0604020202020204" pitchFamily="34" charset="0"/>
              </a:rPr>
              <a:t>Major Expenses of a Mining Company (Rio Tinto Example)</a:t>
            </a:r>
          </a:p>
          <a:p>
            <a:pPr marL="0" indent="0">
              <a:buNone/>
            </a:pPr>
            <a:r>
              <a:rPr lang="en-US" sz="1300" dirty="0">
                <a:latin typeface="Arial" panose="020B0604020202020204" pitchFamily="34" charset="0"/>
                <a:cs typeface="Arial" panose="020B0604020202020204" pitchFamily="34" charset="0"/>
              </a:rPr>
              <a:t>Mining companies incur high costs across operations. According to Rio Tinto’s 2024 Annual Report, significant expense categories include:</a:t>
            </a:r>
          </a:p>
          <a:p>
            <a:r>
              <a:rPr lang="en-US" sz="1300" dirty="0">
                <a:latin typeface="Arial" panose="020B0604020202020204" pitchFamily="34" charset="0"/>
                <a:cs typeface="Arial" panose="020B0604020202020204" pitchFamily="34" charset="0"/>
              </a:rPr>
              <a:t>Energy costs, which contributed to EBITDA movement</a:t>
            </a:r>
            <a:br>
              <a:rPr lang="en-US" sz="1300" dirty="0">
                <a:latin typeface="Arial" panose="020B0604020202020204" pitchFamily="34" charset="0"/>
                <a:cs typeface="Arial" panose="020B0604020202020204" pitchFamily="34" charset="0"/>
              </a:rPr>
            </a:br>
            <a:r>
              <a:rPr lang="en-US" sz="1300" i="1" dirty="0">
                <a:latin typeface="Arial" panose="020B0604020202020204" pitchFamily="34" charset="0"/>
                <a:cs typeface="Arial" panose="020B0604020202020204" pitchFamily="34" charset="0"/>
              </a:rPr>
              <a:t>(Rio Tinto Annual Report 2024)</a:t>
            </a:r>
          </a:p>
          <a:p>
            <a:r>
              <a:rPr lang="en-US" sz="1300" dirty="0">
                <a:latin typeface="Arial" panose="020B0604020202020204" pitchFamily="34" charset="0"/>
                <a:cs typeface="Arial" panose="020B0604020202020204" pitchFamily="34" charset="0"/>
              </a:rPr>
              <a:t>General inflation and operating cash unit costs, which increased the cost of mining, processing and </a:t>
            </a:r>
            <a:r>
              <a:rPr lang="en-US" sz="1300" dirty="0" err="1">
                <a:latin typeface="Arial" panose="020B0604020202020204" pitchFamily="34" charset="0"/>
                <a:cs typeface="Arial" panose="020B0604020202020204" pitchFamily="34" charset="0"/>
              </a:rPr>
              <a:t>labour</a:t>
            </a:r>
            <a:br>
              <a:rPr lang="en-US" sz="1300" dirty="0">
                <a:latin typeface="Arial" panose="020B0604020202020204" pitchFamily="34" charset="0"/>
                <a:cs typeface="Arial" panose="020B0604020202020204" pitchFamily="34" charset="0"/>
              </a:rPr>
            </a:br>
            <a:r>
              <a:rPr lang="en-US" sz="1300" i="1" dirty="0">
                <a:latin typeface="Arial" panose="020B0604020202020204" pitchFamily="34" charset="0"/>
                <a:cs typeface="Arial" panose="020B0604020202020204" pitchFamily="34" charset="0"/>
              </a:rPr>
              <a:t>(Rio Tinto Annual Report 2024)</a:t>
            </a:r>
          </a:p>
          <a:p>
            <a:endParaRPr lang="en-US" sz="1300" dirty="0">
              <a:latin typeface="Arial" panose="020B0604020202020204" pitchFamily="34" charset="0"/>
              <a:cs typeface="Arial" panose="020B0604020202020204" pitchFamily="34" charset="0"/>
            </a:endParaRPr>
          </a:p>
          <a:p>
            <a:r>
              <a:rPr lang="en-US" sz="1300" dirty="0">
                <a:latin typeface="Arial" panose="020B0604020202020204" pitchFamily="34" charset="0"/>
                <a:cs typeface="Arial" panose="020B0604020202020204" pitchFamily="34" charset="0"/>
              </a:rPr>
              <a:t>Exploration and evaluation expenditure for discovering and developing new mineral resources</a:t>
            </a:r>
            <a:br>
              <a:rPr lang="en-US" sz="1300" dirty="0">
                <a:latin typeface="Arial" panose="020B0604020202020204" pitchFamily="34" charset="0"/>
                <a:cs typeface="Arial" panose="020B0604020202020204" pitchFamily="34" charset="0"/>
              </a:rPr>
            </a:br>
            <a:r>
              <a:rPr lang="en-US" sz="1300" i="1" dirty="0">
                <a:latin typeface="Arial" panose="020B0604020202020204" pitchFamily="34" charset="0"/>
                <a:cs typeface="Arial" panose="020B0604020202020204" pitchFamily="34" charset="0"/>
              </a:rPr>
              <a:t>(Rio Tinto Annual Report 2024)</a:t>
            </a:r>
          </a:p>
          <a:p>
            <a:r>
              <a:rPr lang="en-US" sz="1300" dirty="0">
                <a:latin typeface="Arial" panose="020B0604020202020204" pitchFamily="34" charset="0"/>
                <a:cs typeface="Arial" panose="020B0604020202020204" pitchFamily="34" charset="0"/>
              </a:rPr>
              <a:t>Employee compensation, including short-term benefits and share-based payments</a:t>
            </a:r>
            <a:br>
              <a:rPr lang="en-US" sz="1300" dirty="0">
                <a:latin typeface="Arial" panose="020B0604020202020204" pitchFamily="34" charset="0"/>
                <a:cs typeface="Arial" panose="020B0604020202020204" pitchFamily="34" charset="0"/>
              </a:rPr>
            </a:br>
            <a:r>
              <a:rPr lang="en-US" sz="1300" i="1" dirty="0">
                <a:latin typeface="Arial" panose="020B0604020202020204" pitchFamily="34" charset="0"/>
                <a:cs typeface="Arial" panose="020B0604020202020204" pitchFamily="34" charset="0"/>
              </a:rPr>
              <a:t>(Rio Tinto Annual Report 2024)</a:t>
            </a:r>
          </a:p>
          <a:p>
            <a:r>
              <a:rPr lang="en-US" sz="1300" dirty="0">
                <a:latin typeface="Arial" panose="020B0604020202020204" pitchFamily="34" charset="0"/>
                <a:cs typeface="Arial" panose="020B0604020202020204" pitchFamily="34" charset="0"/>
              </a:rPr>
              <a:t>Capital expenditure, such as purchases of property, plant and equipment (US$9.6 billion in 2024)</a:t>
            </a:r>
            <a:br>
              <a:rPr lang="en-US" sz="1300" dirty="0">
                <a:latin typeface="Arial" panose="020B0604020202020204" pitchFamily="34" charset="0"/>
                <a:cs typeface="Arial" panose="020B0604020202020204" pitchFamily="34" charset="0"/>
              </a:rPr>
            </a:br>
            <a:r>
              <a:rPr lang="en-US" sz="1300" i="1" dirty="0">
                <a:latin typeface="Arial" panose="020B0604020202020204" pitchFamily="34" charset="0"/>
                <a:cs typeface="Arial" panose="020B0604020202020204" pitchFamily="34" charset="0"/>
              </a:rPr>
              <a:t>(Rio Tinto Annual Report 2024)</a:t>
            </a:r>
          </a:p>
          <a:p>
            <a:pPr marL="0" indent="0">
              <a:buNone/>
            </a:pPr>
            <a:r>
              <a:rPr lang="en-US" sz="1500" u="sng" dirty="0">
                <a:latin typeface="Arial" panose="020B0604020202020204" pitchFamily="34" charset="0"/>
                <a:cs typeface="Arial" panose="020B0604020202020204" pitchFamily="34" charset="0"/>
              </a:rPr>
              <a:t>Based on BHP’s Annual Report 2024, the major operational expenses in mining include:</a:t>
            </a:r>
          </a:p>
          <a:p>
            <a:r>
              <a:rPr lang="en-US" sz="1300" dirty="0">
                <a:latin typeface="Arial" panose="020B0604020202020204" pitchFamily="34" charset="0"/>
                <a:cs typeface="Arial" panose="020B0604020202020204" pitchFamily="34" charset="0"/>
              </a:rPr>
              <a:t>External contractor services</a:t>
            </a:r>
          </a:p>
          <a:p>
            <a:r>
              <a:rPr lang="en-US" sz="1300" dirty="0">
                <a:latin typeface="Arial" panose="020B0604020202020204" pitchFamily="34" charset="0"/>
                <a:cs typeface="Arial" panose="020B0604020202020204" pitchFamily="34" charset="0"/>
              </a:rPr>
              <a:t>Tailings management work</a:t>
            </a:r>
          </a:p>
          <a:p>
            <a:r>
              <a:rPr lang="en-US" sz="1300" dirty="0">
                <a:latin typeface="Arial" panose="020B0604020202020204" pitchFamily="34" charset="0"/>
                <a:cs typeface="Arial" panose="020B0604020202020204" pitchFamily="34" charset="0"/>
              </a:rPr>
              <a:t>Maintenance costs</a:t>
            </a:r>
          </a:p>
          <a:p>
            <a:r>
              <a:rPr lang="en-US" sz="1300" dirty="0">
                <a:latin typeface="Arial" panose="020B0604020202020204" pitchFamily="34" charset="0"/>
                <a:cs typeface="Arial" panose="020B0604020202020204" pitchFamily="34" charset="0"/>
              </a:rPr>
              <a:t>Stripping and overburden removal costs</a:t>
            </a:r>
          </a:p>
          <a:p>
            <a:r>
              <a:rPr lang="en-US" sz="1300" dirty="0">
                <a:latin typeface="Arial" panose="020B0604020202020204" pitchFamily="34" charset="0"/>
                <a:cs typeface="Arial" panose="020B0604020202020204" pitchFamily="34" charset="0"/>
              </a:rPr>
              <a:t>Contractor </a:t>
            </a:r>
            <a:r>
              <a:rPr lang="en-US" sz="1300" dirty="0" err="1">
                <a:latin typeface="Arial" panose="020B0604020202020204" pitchFamily="34" charset="0"/>
                <a:cs typeface="Arial" panose="020B0604020202020204" pitchFamily="34" charset="0"/>
              </a:rPr>
              <a:t>labour</a:t>
            </a:r>
            <a:r>
              <a:rPr lang="en-US" sz="1300" dirty="0">
                <a:latin typeface="Arial" panose="020B0604020202020204" pitchFamily="34" charset="0"/>
                <a:cs typeface="Arial" panose="020B0604020202020204" pitchFamily="34" charset="0"/>
              </a:rPr>
              <a:t> costs</a:t>
            </a:r>
          </a:p>
          <a:p>
            <a:r>
              <a:rPr lang="en-US" sz="1300" dirty="0">
                <a:latin typeface="Arial" panose="020B0604020202020204" pitchFamily="34" charset="0"/>
                <a:cs typeface="Arial" panose="020B0604020202020204" pitchFamily="34" charset="0"/>
              </a:rPr>
              <a:t>Other operating expenses linked to mine </a:t>
            </a:r>
            <a:r>
              <a:rPr lang="en-US" sz="1300" dirty="0" err="1">
                <a:latin typeface="Arial" panose="020B0604020202020204" pitchFamily="34" charset="0"/>
                <a:cs typeface="Arial" panose="020B0604020202020204" pitchFamily="34" charset="0"/>
              </a:rPr>
              <a:t>productionOther</a:t>
            </a:r>
            <a:r>
              <a:rPr lang="en-US" sz="1300" dirty="0">
                <a:latin typeface="Arial" panose="020B0604020202020204" pitchFamily="34" charset="0"/>
                <a:cs typeface="Arial" panose="020B0604020202020204" pitchFamily="34" charset="0"/>
              </a:rPr>
              <a:t> operating expenses linked to mine production</a:t>
            </a:r>
          </a:p>
          <a:p>
            <a:pPr marL="0" indent="0">
              <a:buNone/>
            </a:pPr>
            <a:r>
              <a:rPr lang="en-US" sz="1200" u="sng" dirty="0">
                <a:latin typeface="Arial" panose="020B0604020202020204" pitchFamily="34" charset="0"/>
                <a:cs typeface="Arial" panose="020B0604020202020204" pitchFamily="34" charset="0"/>
              </a:rPr>
              <a:t>These cost items are clearly identified when BHP states:</a:t>
            </a:r>
          </a:p>
          <a:p>
            <a:r>
              <a:rPr lang="en-US" sz="1100" b="1" dirty="0"/>
              <a:t>“</a:t>
            </a:r>
            <a:r>
              <a:rPr lang="en-US" sz="1100" b="1" dirty="0">
                <a:latin typeface="Arial" panose="020B0604020202020204" pitchFamily="34" charset="0"/>
                <a:cs typeface="Arial" panose="020B0604020202020204" pitchFamily="34" charset="0"/>
              </a:rPr>
              <a:t>Total expenses excluding net finance costs of US$36.8 billion increased … due to higher external contractor services, additional tailings work, higher maintenance, and higher stripping and contractor costs.”</a:t>
            </a:r>
            <a:br>
              <a:rPr lang="en-US" sz="1100" dirty="0">
                <a:latin typeface="Arial" panose="020B0604020202020204" pitchFamily="34" charset="0"/>
                <a:cs typeface="Arial" panose="020B0604020202020204" pitchFamily="34" charset="0"/>
              </a:rPr>
            </a:br>
            <a:r>
              <a:rPr lang="en-US" sz="1100" i="1" dirty="0">
                <a:latin typeface="Arial" panose="020B0604020202020204" pitchFamily="34" charset="0"/>
                <a:cs typeface="Arial" panose="020B0604020202020204" pitchFamily="34" charset="0"/>
              </a:rPr>
              <a:t>(BHP Annual Report 2024)</a:t>
            </a:r>
            <a:endParaRPr lang="en-US" sz="1100" dirty="0">
              <a:latin typeface="Arial" panose="020B0604020202020204" pitchFamily="34" charset="0"/>
              <a:cs typeface="Arial" panose="020B0604020202020204" pitchFamily="34" charset="0"/>
            </a:endParaRPr>
          </a:p>
          <a:p>
            <a:pPr marL="0" indent="0">
              <a:buNone/>
            </a:pPr>
            <a:endParaRPr lang="en-US" sz="1100" i="1" dirty="0">
              <a:latin typeface="Arial" panose="020B0604020202020204" pitchFamily="34" charset="0"/>
              <a:cs typeface="Arial" panose="020B0604020202020204" pitchFamily="34" charset="0"/>
            </a:endParaRPr>
          </a:p>
          <a:p>
            <a:endParaRPr lang="en-US" sz="1400" i="1" dirty="0">
              <a:latin typeface="Arial" panose="020B0604020202020204" pitchFamily="34" charset="0"/>
              <a:cs typeface="Arial" panose="020B0604020202020204" pitchFamily="34" charset="0"/>
            </a:endParaRPr>
          </a:p>
          <a:p>
            <a:endParaRPr lang="en-US" dirty="0"/>
          </a:p>
          <a:p>
            <a:pPr marL="0" indent="0">
              <a:buNone/>
            </a:pPr>
            <a:endParaRPr lang="en-US" dirty="0"/>
          </a:p>
        </p:txBody>
      </p:sp>
      <p:sp>
        <p:nvSpPr>
          <p:cNvPr id="6" name="Rectangle 3">
            <a:extLst>
              <a:ext uri="{FF2B5EF4-FFF2-40B4-BE49-F238E27FC236}">
                <a16:creationId xmlns:a16="http://schemas.microsoft.com/office/drawing/2014/main" id="{2A109048-E042-4882-C950-B98D00067A68}"/>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9472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B2640-A0DF-4E79-5DC2-64B860276FF4}"/>
              </a:ext>
            </a:extLst>
          </p:cNvPr>
          <p:cNvSpPr>
            <a:spLocks noGrp="1"/>
          </p:cNvSpPr>
          <p:nvPr>
            <p:ph type="title"/>
          </p:nvPr>
        </p:nvSpPr>
        <p:spPr/>
        <p:txBody>
          <a:bodyPr/>
          <a:lstStyle/>
          <a:p>
            <a:r>
              <a:rPr lang="en-US" dirty="0"/>
              <a:t>Task-2</a:t>
            </a:r>
          </a:p>
        </p:txBody>
      </p:sp>
      <p:sp>
        <p:nvSpPr>
          <p:cNvPr id="3" name="Content Placeholder 2">
            <a:extLst>
              <a:ext uri="{FF2B5EF4-FFF2-40B4-BE49-F238E27FC236}">
                <a16:creationId xmlns:a16="http://schemas.microsoft.com/office/drawing/2014/main" id="{2D00EE02-5DA9-57FF-D2E1-2E579117B7C7}"/>
              </a:ext>
            </a:extLst>
          </p:cNvPr>
          <p:cNvSpPr>
            <a:spLocks noGrp="1"/>
          </p:cNvSpPr>
          <p:nvPr>
            <p:ph idx="1"/>
          </p:nvPr>
        </p:nvSpPr>
        <p:spPr/>
        <p:txBody>
          <a:bodyPr/>
          <a:lstStyle/>
          <a:p>
            <a:endParaRPr lang="en-US" dirty="0"/>
          </a:p>
          <a:p>
            <a:pPr marL="0" indent="0">
              <a:buNone/>
            </a:pPr>
            <a:r>
              <a:rPr lang="en-US" dirty="0"/>
              <a:t>5 major impact are –</a:t>
            </a:r>
          </a:p>
          <a:p>
            <a:r>
              <a:rPr lang="en-US" b="1" dirty="0"/>
              <a:t>Groundwater contamination</a:t>
            </a:r>
          </a:p>
          <a:p>
            <a:r>
              <a:rPr lang="en-US" b="1" dirty="0"/>
              <a:t>Induced seismicity</a:t>
            </a:r>
          </a:p>
          <a:p>
            <a:r>
              <a:rPr lang="en-US" b="1" dirty="0"/>
              <a:t>Land subsidence</a:t>
            </a:r>
          </a:p>
          <a:p>
            <a:r>
              <a:rPr lang="en-US" b="1" dirty="0"/>
              <a:t> Water usage &amp; depletion</a:t>
            </a:r>
          </a:p>
          <a:p>
            <a:r>
              <a:rPr lang="en-US" b="1" dirty="0"/>
              <a:t> Toxic waste &amp; tailings risk</a:t>
            </a:r>
          </a:p>
          <a:p>
            <a:pPr marL="0" indent="0">
              <a:buNone/>
            </a:pPr>
            <a:endParaRPr lang="en-US" dirty="0"/>
          </a:p>
        </p:txBody>
      </p:sp>
    </p:spTree>
    <p:extLst>
      <p:ext uri="{BB962C8B-B14F-4D97-AF65-F5344CB8AC3E}">
        <p14:creationId xmlns:p14="http://schemas.microsoft.com/office/powerpoint/2010/main" val="2258746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28B2707-6265-2115-50E1-6978BF0254D9}"/>
              </a:ext>
            </a:extLst>
          </p:cNvPr>
          <p:cNvGraphicFramePr>
            <a:graphicFrameLocks noGrp="1"/>
          </p:cNvGraphicFramePr>
          <p:nvPr>
            <p:ph idx="1"/>
            <p:extLst>
              <p:ext uri="{D42A27DB-BD31-4B8C-83A1-F6EECF244321}">
                <p14:modId xmlns:p14="http://schemas.microsoft.com/office/powerpoint/2010/main" val="925255746"/>
              </p:ext>
            </p:extLst>
          </p:nvPr>
        </p:nvGraphicFramePr>
        <p:xfrm>
          <a:off x="0" y="0"/>
          <a:ext cx="11714480" cy="6776720"/>
        </p:xfrm>
        <a:graphic>
          <a:graphicData uri="http://schemas.openxmlformats.org/drawingml/2006/table">
            <a:tbl>
              <a:tblPr firstRow="1" bandRow="1">
                <a:tableStyleId>{5C22544A-7EE6-4342-B048-85BDC9FD1C3A}</a:tableStyleId>
              </a:tblPr>
              <a:tblGrid>
                <a:gridCol w="4734560">
                  <a:extLst>
                    <a:ext uri="{9D8B030D-6E8A-4147-A177-3AD203B41FA5}">
                      <a16:colId xmlns:a16="http://schemas.microsoft.com/office/drawing/2014/main" val="3829893497"/>
                    </a:ext>
                  </a:extLst>
                </a:gridCol>
                <a:gridCol w="6979920">
                  <a:extLst>
                    <a:ext uri="{9D8B030D-6E8A-4147-A177-3AD203B41FA5}">
                      <a16:colId xmlns:a16="http://schemas.microsoft.com/office/drawing/2014/main" val="1149305815"/>
                    </a:ext>
                  </a:extLst>
                </a:gridCol>
              </a:tblGrid>
              <a:tr h="376049">
                <a:tc>
                  <a:txBody>
                    <a:bodyPr/>
                    <a:lstStyle/>
                    <a:p>
                      <a:r>
                        <a:rPr lang="en-US" dirty="0"/>
                        <a:t>Impact </a:t>
                      </a:r>
                    </a:p>
                  </a:txBody>
                  <a:tcPr/>
                </a:tc>
                <a:tc>
                  <a:txBody>
                    <a:bodyPr/>
                    <a:lstStyle/>
                    <a:p>
                      <a:r>
                        <a:rPr lang="en-US" sz="1400" dirty="0"/>
                        <a:t>Mitigation Plan</a:t>
                      </a:r>
                    </a:p>
                  </a:txBody>
                  <a:tcPr/>
                </a:tc>
                <a:extLst>
                  <a:ext uri="{0D108BD9-81ED-4DB2-BD59-A6C34878D82A}">
                    <a16:rowId xmlns:a16="http://schemas.microsoft.com/office/drawing/2014/main" val="3188458510"/>
                  </a:ext>
                </a:extLst>
              </a:tr>
              <a:tr h="2373811">
                <a:tc>
                  <a:txBody>
                    <a:bodyPr/>
                    <a:lstStyle/>
                    <a:p>
                      <a:r>
                        <a:rPr lang="en-US" sz="1400" dirty="0">
                          <a:latin typeface="Arial" panose="020B0604020202020204" pitchFamily="34" charset="0"/>
                          <a:cs typeface="Arial" panose="020B0604020202020204" pitchFamily="34" charset="0"/>
                        </a:rPr>
                        <a:t>Groundwater Contamination &amp; Aquifer Disruption-</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Deep-earth drilling can intersect </a:t>
                      </a:r>
                      <a:r>
                        <a:rPr lang="en-US" sz="1200" b="1" dirty="0">
                          <a:latin typeface="Arial" panose="020B0604020202020204" pitchFamily="34" charset="0"/>
                          <a:cs typeface="Arial" panose="020B0604020202020204" pitchFamily="34" charset="0"/>
                        </a:rPr>
                        <a:t>freshwater aquifers</a:t>
                      </a:r>
                      <a:r>
                        <a:rPr lang="en-US" sz="1200" dirty="0">
                          <a:latin typeface="Arial" panose="020B0604020202020204" pitchFamily="34" charset="0"/>
                          <a:cs typeface="Arial" panose="020B0604020202020204" pitchFamily="34" charset="0"/>
                        </a:rPr>
                        <a:t>, creating leakage pathways.</a:t>
                      </a:r>
                    </a:p>
                    <a:p>
                      <a:pPr marL="285750" indent="-285750">
                        <a:buFont typeface="Arial" panose="020B0604020202020204" pitchFamily="34" charset="0"/>
                        <a:buChar char="•"/>
                      </a:pPr>
                      <a:r>
                        <a:rPr lang="en-US" sz="1200" b="1" dirty="0">
                          <a:latin typeface="Arial" panose="020B0604020202020204" pitchFamily="34" charset="0"/>
                          <a:cs typeface="Arial" panose="020B0604020202020204" pitchFamily="34" charset="0"/>
                        </a:rPr>
                        <a:t>Heavy metals, drilling fluids, and saline water</a:t>
                      </a:r>
                      <a:r>
                        <a:rPr lang="en-US" sz="1200" dirty="0">
                          <a:latin typeface="Arial" panose="020B0604020202020204" pitchFamily="34" charset="0"/>
                          <a:cs typeface="Arial" panose="020B0604020202020204" pitchFamily="34" charset="0"/>
                        </a:rPr>
                        <a:t> may migrate into groundwater.</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Pressure imbalance at 20 km depth can cause </a:t>
                      </a:r>
                      <a:r>
                        <a:rPr lang="en-US" sz="1200" b="1" dirty="0">
                          <a:latin typeface="Arial" panose="020B0604020202020204" pitchFamily="34" charset="0"/>
                          <a:cs typeface="Arial" panose="020B0604020202020204" pitchFamily="34" charset="0"/>
                        </a:rPr>
                        <a:t>aquifer mixing</a:t>
                      </a:r>
                      <a:r>
                        <a:rPr lang="en-US" sz="1200" dirty="0">
                          <a:latin typeface="Arial" panose="020B0604020202020204" pitchFamily="34" charset="0"/>
                          <a:cs typeface="Arial" panose="020B0604020202020204" pitchFamily="34" charset="0"/>
                        </a:rPr>
                        <a:t> and loss of potable water.</a:t>
                      </a:r>
                    </a:p>
                  </a:txBody>
                  <a:tcPr/>
                </a:tc>
                <a:tc>
                  <a:txBody>
                    <a:bodyPr/>
                    <a:lstStyle/>
                    <a:p>
                      <a:pPr marL="342900" indent="-342900">
                        <a:buAutoNum type="arabicPeriod"/>
                      </a:pPr>
                      <a:r>
                        <a:rPr lang="en-US" sz="1400" dirty="0">
                          <a:latin typeface="Arial" panose="020B0604020202020204" pitchFamily="34" charset="0"/>
                          <a:cs typeface="Arial" panose="020B0604020202020204" pitchFamily="34" charset="0"/>
                        </a:rPr>
                        <a:t>Preventive Design</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3D hydrogeological mapping to identify aquifers.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Directional drilling to </a:t>
                      </a:r>
                      <a:r>
                        <a:rPr lang="en-US" sz="1200" b="1" dirty="0">
                          <a:latin typeface="Arial" panose="020B0604020202020204" pitchFamily="34" charset="0"/>
                          <a:cs typeface="Arial" panose="020B0604020202020204" pitchFamily="34" charset="0"/>
                        </a:rPr>
                        <a:t>avoid sensitive water-bearing zones</a:t>
                      </a:r>
                      <a:r>
                        <a:rPr lang="en-US" sz="1200" dirty="0">
                          <a:latin typeface="Arial" panose="020B0604020202020204" pitchFamily="34" charset="0"/>
                          <a:cs typeface="Arial" panose="020B0604020202020204" pitchFamily="34" charset="0"/>
                        </a:rPr>
                        <a:t>.</a:t>
                      </a:r>
                    </a:p>
                    <a:p>
                      <a:pPr marL="0" indent="0">
                        <a:buFont typeface="Arial" panose="020B0604020202020204" pitchFamily="34" charset="0"/>
                        <a:buNone/>
                      </a:pPr>
                      <a:r>
                        <a:rPr lang="en-US" sz="1400" b="1" dirty="0">
                          <a:latin typeface="Arial" panose="020B0604020202020204" pitchFamily="34" charset="0"/>
                          <a:cs typeface="Arial" panose="020B0604020202020204" pitchFamily="34" charset="0"/>
                        </a:rPr>
                        <a:t>2. Closed-Loop Drilling &amp; Containment</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Fully sealed </a:t>
                      </a:r>
                      <a:r>
                        <a:rPr lang="en-US" sz="1200" b="1" dirty="0">
                          <a:latin typeface="Arial" panose="020B0604020202020204" pitchFamily="34" charset="0"/>
                          <a:cs typeface="Arial" panose="020B0604020202020204" pitchFamily="34" charset="0"/>
                        </a:rPr>
                        <a:t>closed-loop drilling fluids system</a:t>
                      </a:r>
                      <a:r>
                        <a:rPr lang="en-US" sz="1200" dirty="0">
                          <a:latin typeface="Arial" panose="020B0604020202020204" pitchFamily="34" charset="0"/>
                          <a:cs typeface="Arial" panose="020B0604020202020204" pitchFamily="34" charset="0"/>
                        </a:rPr>
                        <a:t> (zero discharge).</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Dual-casing + cement grouting to isolate drilling pathways.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Built-in </a:t>
                      </a:r>
                      <a:r>
                        <a:rPr lang="en-US" sz="1200" b="1" dirty="0">
                          <a:latin typeface="Arial" panose="020B0604020202020204" pitchFamily="34" charset="0"/>
                          <a:cs typeface="Arial" panose="020B0604020202020204" pitchFamily="34" charset="0"/>
                        </a:rPr>
                        <a:t>leak detection sensors</a:t>
                      </a:r>
                      <a:r>
                        <a:rPr lang="en-US" sz="1200" dirty="0">
                          <a:latin typeface="Arial" panose="020B0604020202020204" pitchFamily="34" charset="0"/>
                          <a:cs typeface="Arial" panose="020B0604020202020204" pitchFamily="34" charset="0"/>
                        </a:rPr>
                        <a:t> for instant containment.</a:t>
                      </a:r>
                    </a:p>
                    <a:p>
                      <a:pPr marL="0" indent="0">
                        <a:buFont typeface="Arial" panose="020B0604020202020204" pitchFamily="34" charset="0"/>
                        <a:buNone/>
                      </a:pPr>
                      <a:r>
                        <a:rPr lang="en-US" sz="1400" dirty="0"/>
                        <a:t>3</a:t>
                      </a:r>
                      <a:r>
                        <a:rPr lang="en-US" sz="1400" dirty="0">
                          <a:latin typeface="Arial" panose="020B0604020202020204" pitchFamily="34" charset="0"/>
                          <a:cs typeface="Arial" panose="020B0604020202020204" pitchFamily="34" charset="0"/>
                        </a:rPr>
                        <a:t>. Real-Time Monitoring &amp; AI Prediction</a:t>
                      </a:r>
                    </a:p>
                    <a:p>
                      <a:pPr marL="285750" indent="-285750">
                        <a:buFont typeface="Arial" panose="020B0604020202020204" pitchFamily="34" charset="0"/>
                        <a:buChar char="•"/>
                      </a:pPr>
                      <a:r>
                        <a:rPr lang="en-US" sz="1050" dirty="0">
                          <a:latin typeface="Arial" panose="020B0604020202020204" pitchFamily="34" charset="0"/>
                          <a:cs typeface="Arial" panose="020B0604020202020204" pitchFamily="34" charset="0"/>
                        </a:rPr>
                        <a:t>Sensor-based monitoring wells around the site (pH, conductivity, pressure).</a:t>
                      </a:r>
                    </a:p>
                    <a:p>
                      <a:pPr marL="285750" indent="-285750">
                        <a:buFont typeface="Arial" panose="020B0604020202020204" pitchFamily="34" charset="0"/>
                        <a:buChar char="•"/>
                      </a:pPr>
                      <a:r>
                        <a:rPr lang="en-US" sz="1050" dirty="0">
                          <a:latin typeface="Arial" panose="020B0604020202020204" pitchFamily="34" charset="0"/>
                          <a:cs typeface="Arial" panose="020B0604020202020204" pitchFamily="34" charset="0"/>
                        </a:rPr>
                        <a:t>AI anomaly detection to </a:t>
                      </a:r>
                      <a:r>
                        <a:rPr lang="en-US" sz="1050" b="1" dirty="0">
                          <a:latin typeface="Arial" panose="020B0604020202020204" pitchFamily="34" charset="0"/>
                          <a:cs typeface="Arial" panose="020B0604020202020204" pitchFamily="34" charset="0"/>
                        </a:rPr>
                        <a:t>predict leaks before they spread</a:t>
                      </a:r>
                      <a:r>
                        <a:rPr lang="en-US" sz="105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050" dirty="0">
                          <a:latin typeface="Arial" panose="020B0604020202020204" pitchFamily="34" charset="0"/>
                          <a:cs typeface="Arial" panose="020B0604020202020204" pitchFamily="34" charset="0"/>
                        </a:rPr>
                        <a:t>Automatic well shut-off + packer seal activation.</a:t>
                      </a:r>
                    </a:p>
                    <a:p>
                      <a:pPr marL="285750" indent="-285750">
                        <a:buFont typeface="Arial" panose="020B0604020202020204" pitchFamily="34" charset="0"/>
                        <a:buChar char="•"/>
                      </a:pPr>
                      <a:endParaRPr lang="en-US" sz="1400" dirty="0"/>
                    </a:p>
                  </a:txBody>
                  <a:tcPr/>
                </a:tc>
                <a:extLst>
                  <a:ext uri="{0D108BD9-81ED-4DB2-BD59-A6C34878D82A}">
                    <a16:rowId xmlns:a16="http://schemas.microsoft.com/office/drawing/2014/main" val="674561825"/>
                  </a:ext>
                </a:extLst>
              </a:tr>
              <a:tr h="2381645">
                <a:tc>
                  <a:txBody>
                    <a:bodyPr/>
                    <a:lstStyle/>
                    <a:p>
                      <a:r>
                        <a:rPr lang="en-US" dirty="0">
                          <a:latin typeface="Arial" panose="020B0604020202020204" pitchFamily="34" charset="0"/>
                          <a:cs typeface="Arial" panose="020B0604020202020204" pitchFamily="34" charset="0"/>
                        </a:rPr>
                        <a:t>Induced Seismicity Due to </a:t>
                      </a:r>
                      <a:r>
                        <a:rPr lang="en-US" dirty="0" err="1">
                          <a:latin typeface="Arial" panose="020B0604020202020204" pitchFamily="34" charset="0"/>
                          <a:cs typeface="Arial" panose="020B0604020202020204" pitchFamily="34" charset="0"/>
                        </a:rPr>
                        <a:t>Geomechanical</a:t>
                      </a:r>
                      <a:r>
                        <a:rPr lang="en-US" dirty="0">
                          <a:latin typeface="Arial" panose="020B0604020202020204" pitchFamily="34" charset="0"/>
                          <a:cs typeface="Arial" panose="020B0604020202020204" pitchFamily="34" charset="0"/>
                        </a:rPr>
                        <a:t> Stress Imbalance</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Ultra-deep mining (up to 20 km) can </a:t>
                      </a:r>
                      <a:r>
                        <a:rPr lang="en-US" sz="1200" b="1" dirty="0">
                          <a:latin typeface="Arial" panose="020B0604020202020204" pitchFamily="34" charset="0"/>
                          <a:cs typeface="Arial" panose="020B0604020202020204" pitchFamily="34" charset="0"/>
                        </a:rPr>
                        <a:t>disturb natural stress fields</a:t>
                      </a:r>
                      <a:r>
                        <a:rPr lang="en-US" sz="1200" dirty="0">
                          <a:latin typeface="Arial" panose="020B0604020202020204" pitchFamily="34" charset="0"/>
                          <a:cs typeface="Arial" panose="020B0604020202020204" pitchFamily="34" charset="0"/>
                        </a:rPr>
                        <a:t> in the crust.</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Drilling and rock removal may </a:t>
                      </a:r>
                      <a:r>
                        <a:rPr lang="en-US" sz="1200" b="1" dirty="0">
                          <a:latin typeface="Arial" panose="020B0604020202020204" pitchFamily="34" charset="0"/>
                          <a:cs typeface="Arial" panose="020B0604020202020204" pitchFamily="34" charset="0"/>
                        </a:rPr>
                        <a:t>transfer stress to nearby faults</a:t>
                      </a:r>
                      <a:r>
                        <a:rPr lang="en-US" sz="1200" dirty="0">
                          <a:latin typeface="Arial" panose="020B0604020202020204" pitchFamily="34" charset="0"/>
                          <a:cs typeface="Arial" panose="020B0604020202020204" pitchFamily="34" charset="0"/>
                        </a:rPr>
                        <a:t>, causing small earthquakes.</a:t>
                      </a:r>
                    </a:p>
                    <a:p>
                      <a:pPr marL="285750" indent="-285750">
                        <a:buFont typeface="Arial" panose="020B0604020202020204" pitchFamily="34" charset="0"/>
                        <a:buChar char="•"/>
                      </a:pPr>
                      <a:r>
                        <a:rPr lang="en-US" sz="1200" dirty="0">
                          <a:latin typeface="Arial" panose="020B0604020202020204" pitchFamily="34" charset="0"/>
                          <a:cs typeface="Arial" panose="020B0604020202020204" pitchFamily="34" charset="0"/>
                        </a:rPr>
                        <a:t>Repeated pressure fluctuations can </a:t>
                      </a:r>
                      <a:r>
                        <a:rPr lang="en-US" sz="1200" b="1" dirty="0">
                          <a:latin typeface="Arial" panose="020B0604020202020204" pitchFamily="34" charset="0"/>
                          <a:cs typeface="Arial" panose="020B0604020202020204" pitchFamily="34" charset="0"/>
                        </a:rPr>
                        <a:t>trigger micro-seismic swarms</a:t>
                      </a:r>
                      <a:r>
                        <a:rPr lang="en-US" sz="1200" dirty="0">
                          <a:latin typeface="Arial" panose="020B0604020202020204" pitchFamily="34" charset="0"/>
                          <a:cs typeface="Arial" panose="020B0604020202020204" pitchFamily="34" charset="0"/>
                        </a:rPr>
                        <a:t>.</a:t>
                      </a:r>
                    </a:p>
                  </a:txBody>
                  <a:tcPr/>
                </a:tc>
                <a:tc>
                  <a:txBody>
                    <a:bodyPr/>
                    <a:lstStyle/>
                    <a:p>
                      <a:pPr marL="342900" indent="-342900">
                        <a:buAutoNum type="arabicPeriod"/>
                      </a:pPr>
                      <a:r>
                        <a:rPr lang="en-US" sz="1400" dirty="0">
                          <a:latin typeface="Arial" panose="020B0604020202020204" pitchFamily="34" charset="0"/>
                          <a:cs typeface="Arial" panose="020B0604020202020204" pitchFamily="34" charset="0"/>
                        </a:rPr>
                        <a:t>Pre-Mining </a:t>
                      </a:r>
                      <a:r>
                        <a:rPr lang="en-US" sz="1400" dirty="0" err="1">
                          <a:latin typeface="Arial" panose="020B0604020202020204" pitchFamily="34" charset="0"/>
                          <a:cs typeface="Arial" panose="020B0604020202020204" pitchFamily="34" charset="0"/>
                        </a:rPr>
                        <a:t>Geomechanical</a:t>
                      </a:r>
                      <a:r>
                        <a:rPr lang="en-US" sz="1400" dirty="0">
                          <a:latin typeface="Arial" panose="020B0604020202020204" pitchFamily="34" charset="0"/>
                          <a:cs typeface="Arial" panose="020B0604020202020204" pitchFamily="34" charset="0"/>
                        </a:rPr>
                        <a:t> Stress Mapping</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3D seismic surveys + rock stress modelling to identify </a:t>
                      </a:r>
                      <a:r>
                        <a:rPr lang="en-US" sz="1100" b="1" dirty="0">
                          <a:latin typeface="Arial" panose="020B0604020202020204" pitchFamily="34" charset="0"/>
                          <a:cs typeface="Arial" panose="020B0604020202020204" pitchFamily="34" charset="0"/>
                        </a:rPr>
                        <a:t>fault lines &amp; stress hotspots</a:t>
                      </a:r>
                      <a:r>
                        <a:rPr lang="en-US" sz="11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Create </a:t>
                      </a:r>
                      <a:r>
                        <a:rPr lang="en-US" sz="1100" b="1" dirty="0">
                          <a:latin typeface="Arial" panose="020B0604020202020204" pitchFamily="34" charset="0"/>
                          <a:cs typeface="Arial" panose="020B0604020202020204" pitchFamily="34" charset="0"/>
                        </a:rPr>
                        <a:t>no-drill exclusion zones</a:t>
                      </a:r>
                      <a:r>
                        <a:rPr lang="en-US" sz="1100" dirty="0">
                          <a:latin typeface="Arial" panose="020B0604020202020204" pitchFamily="34" charset="0"/>
                          <a:cs typeface="Arial" panose="020B0604020202020204" pitchFamily="34" charset="0"/>
                        </a:rPr>
                        <a:t> around unstable geological features.</a:t>
                      </a:r>
                    </a:p>
                    <a:p>
                      <a:pPr marL="0" indent="0">
                        <a:buFont typeface="Arial" panose="020B0604020202020204" pitchFamily="34" charset="0"/>
                        <a:buNone/>
                      </a:pPr>
                      <a:r>
                        <a:rPr lang="en-US" sz="1100" dirty="0">
                          <a:latin typeface="Arial" panose="020B0604020202020204" pitchFamily="34" charset="0"/>
                          <a:cs typeface="Arial" panose="020B0604020202020204" pitchFamily="34" charset="0"/>
                        </a:rPr>
                        <a:t>2. Controlled Drilling &amp; Pressure Management</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Maintain stable borehole pressure to avoid abrupt rock failure.</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Use </a:t>
                      </a:r>
                      <a:r>
                        <a:rPr lang="en-US" sz="1100" b="1" dirty="0">
                          <a:latin typeface="Arial" panose="020B0604020202020204" pitchFamily="34" charset="0"/>
                          <a:cs typeface="Arial" panose="020B0604020202020204" pitchFamily="34" charset="0"/>
                        </a:rPr>
                        <a:t>slow-rate drilling</a:t>
                      </a:r>
                      <a:r>
                        <a:rPr lang="en-US" sz="1100" dirty="0">
                          <a:latin typeface="Arial" panose="020B0604020202020204" pitchFamily="34" charset="0"/>
                          <a:cs typeface="Arial" panose="020B0604020202020204" pitchFamily="34" charset="0"/>
                        </a:rPr>
                        <a:t> when approaching stress-sensitive zones.</a:t>
                      </a:r>
                    </a:p>
                    <a:p>
                      <a:pPr marL="0" indent="0">
                        <a:buFont typeface="Arial" panose="020B0604020202020204" pitchFamily="34" charset="0"/>
                        <a:buNone/>
                      </a:pPr>
                      <a:r>
                        <a:rPr lang="en-US" sz="1100" dirty="0">
                          <a:latin typeface="Arial" panose="020B0604020202020204" pitchFamily="34" charset="0"/>
                          <a:cs typeface="Arial" panose="020B0604020202020204" pitchFamily="34" charset="0"/>
                        </a:rPr>
                        <a:t>3. Micro-Seismic Sensor Network</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Install a ring of </a:t>
                      </a:r>
                      <a:r>
                        <a:rPr lang="en-US" sz="1100" b="1" dirty="0">
                          <a:latin typeface="Arial" panose="020B0604020202020204" pitchFamily="34" charset="0"/>
                          <a:cs typeface="Arial" panose="020B0604020202020204" pitchFamily="34" charset="0"/>
                        </a:rPr>
                        <a:t>high-sensitivity geophones</a:t>
                      </a:r>
                      <a:r>
                        <a:rPr lang="en-US" sz="1100" dirty="0">
                          <a:latin typeface="Arial" panose="020B0604020202020204" pitchFamily="34" charset="0"/>
                          <a:cs typeface="Arial" panose="020B0604020202020204" pitchFamily="34" charset="0"/>
                        </a:rPr>
                        <a:t> around the mine site.</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Continuous monitoring of micro-earthquake frequency, magnitude, and depth.</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Build a </a:t>
                      </a:r>
                      <a:r>
                        <a:rPr lang="en-US" sz="1100" b="1" dirty="0">
                          <a:latin typeface="Arial" panose="020B0604020202020204" pitchFamily="34" charset="0"/>
                          <a:cs typeface="Arial" panose="020B0604020202020204" pitchFamily="34" charset="0"/>
                        </a:rPr>
                        <a:t>threshold-based alert system</a:t>
                      </a:r>
                      <a:r>
                        <a:rPr lang="en-US" sz="1100" dirty="0">
                          <a:latin typeface="Arial" panose="020B0604020202020204" pitchFamily="34" charset="0"/>
                          <a:cs typeface="Arial" panose="020B0604020202020204" pitchFamily="34" charset="0"/>
                        </a:rPr>
                        <a:t> that pauses drilling when activity spikes.</a:t>
                      </a:r>
                    </a:p>
                    <a:p>
                      <a:pPr marL="0" indent="0">
                        <a:buFont typeface="Arial" panose="020B0604020202020204" pitchFamily="34" charset="0"/>
                        <a:buNone/>
                      </a:pPr>
                      <a:r>
                        <a:rPr lang="en-US" sz="1100" dirty="0">
                          <a:latin typeface="Arial" panose="020B0604020202020204" pitchFamily="34" charset="0"/>
                          <a:cs typeface="Arial" panose="020B0604020202020204" pitchFamily="34" charset="0"/>
                        </a:rPr>
                        <a:t>4. AI-Based Seismic Prediction &amp; Active Stress Balancing</a:t>
                      </a:r>
                    </a:p>
                    <a:p>
                      <a:pPr marL="171450" indent="-171450">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sz="11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52362866"/>
                  </a:ext>
                </a:extLst>
              </a:tr>
              <a:tr h="1645215">
                <a:tc>
                  <a:txBody>
                    <a:bodyPr/>
                    <a:lstStyle/>
                    <a:p>
                      <a:r>
                        <a:rPr lang="en-US" dirty="0">
                          <a:latin typeface="Arial" panose="020B0604020202020204" pitchFamily="34" charset="0"/>
                          <a:cs typeface="Arial" panose="020B0604020202020204" pitchFamily="34" charset="0"/>
                        </a:rPr>
                        <a:t>Land Subsidence &amp; Surface Deformation</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Removal of large rock volumes at </a:t>
                      </a:r>
                      <a:r>
                        <a:rPr lang="en-US" sz="1100" b="1" dirty="0">
                          <a:latin typeface="Arial" panose="020B0604020202020204" pitchFamily="34" charset="0"/>
                          <a:cs typeface="Arial" panose="020B0604020202020204" pitchFamily="34" charset="0"/>
                        </a:rPr>
                        <a:t>20 km depth</a:t>
                      </a:r>
                      <a:r>
                        <a:rPr lang="en-US" sz="1100" dirty="0">
                          <a:latin typeface="Arial" panose="020B0604020202020204" pitchFamily="34" charset="0"/>
                          <a:cs typeface="Arial" panose="020B0604020202020204" pitchFamily="34" charset="0"/>
                        </a:rPr>
                        <a:t> may create underground voids.</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Over time, the roof of these cavities may </a:t>
                      </a:r>
                      <a:r>
                        <a:rPr lang="en-US" sz="1100" b="1" dirty="0">
                          <a:latin typeface="Arial" panose="020B0604020202020204" pitchFamily="34" charset="0"/>
                          <a:cs typeface="Arial" panose="020B0604020202020204" pitchFamily="34" charset="0"/>
                        </a:rPr>
                        <a:t>collapse</a:t>
                      </a:r>
                      <a:r>
                        <a:rPr lang="en-US" sz="1100" dirty="0">
                          <a:latin typeface="Arial" panose="020B0604020202020204" pitchFamily="34" charset="0"/>
                          <a:cs typeface="Arial" panose="020B0604020202020204" pitchFamily="34" charset="0"/>
                        </a:rPr>
                        <a:t>, causing gradual sinking or surface cracking.</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This deformation can affect </a:t>
                      </a:r>
                      <a:r>
                        <a:rPr lang="en-US" sz="1100" b="1" dirty="0">
                          <a:latin typeface="Arial" panose="020B0604020202020204" pitchFamily="34" charset="0"/>
                          <a:cs typeface="Arial" panose="020B0604020202020204" pitchFamily="34" charset="0"/>
                        </a:rPr>
                        <a:t>infrastructure, forests, farmlands, and community settlements</a:t>
                      </a:r>
                      <a:r>
                        <a:rPr lang="en-US" sz="1100" dirty="0">
                          <a:latin typeface="Arial" panose="020B0604020202020204" pitchFamily="34" charset="0"/>
                          <a:cs typeface="Arial" panose="020B0604020202020204" pitchFamily="34" charset="0"/>
                        </a:rPr>
                        <a:t>.</a:t>
                      </a:r>
                    </a:p>
                  </a:txBody>
                  <a:tcPr/>
                </a:tc>
                <a:tc>
                  <a:txBody>
                    <a:bodyPr/>
                    <a:lstStyle/>
                    <a:p>
                      <a:pPr marL="342900" indent="-342900">
                        <a:buAutoNum type="arabicPeriod"/>
                      </a:pPr>
                      <a:r>
                        <a:rPr lang="en-US" sz="1100" dirty="0">
                          <a:latin typeface="Arial" panose="020B0604020202020204" pitchFamily="34" charset="0"/>
                          <a:cs typeface="Arial" panose="020B0604020202020204" pitchFamily="34" charset="0"/>
                        </a:rPr>
                        <a:t>Subsurface Void Management &amp; Backfilling</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Immediately backfill extracted zones with </a:t>
                      </a:r>
                      <a:r>
                        <a:rPr lang="en-US" sz="1100" b="1" dirty="0">
                          <a:latin typeface="Arial" panose="020B0604020202020204" pitchFamily="34" charset="0"/>
                          <a:cs typeface="Arial" panose="020B0604020202020204" pitchFamily="34" charset="0"/>
                        </a:rPr>
                        <a:t>hydraulic backfill</a:t>
                      </a:r>
                      <a:r>
                        <a:rPr lang="en-US" sz="1100" dirty="0">
                          <a:latin typeface="Arial" panose="020B0604020202020204" pitchFamily="34" charset="0"/>
                          <a:cs typeface="Arial" panose="020B0604020202020204" pitchFamily="34" charset="0"/>
                        </a:rPr>
                        <a:t>, cemented paste, or waste rock.</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Use </a:t>
                      </a:r>
                      <a:r>
                        <a:rPr lang="en-US" sz="1100" b="1" dirty="0">
                          <a:latin typeface="Arial" panose="020B0604020202020204" pitchFamily="34" charset="0"/>
                          <a:cs typeface="Arial" panose="020B0604020202020204" pitchFamily="34" charset="0"/>
                        </a:rPr>
                        <a:t>high-strength engineered backfill</a:t>
                      </a:r>
                      <a:r>
                        <a:rPr lang="en-US" sz="1100" dirty="0">
                          <a:latin typeface="Arial" panose="020B0604020202020204" pitchFamily="34" charset="0"/>
                          <a:cs typeface="Arial" panose="020B0604020202020204" pitchFamily="34" charset="0"/>
                        </a:rPr>
                        <a:t> to maintain structural stability.</a:t>
                      </a:r>
                    </a:p>
                    <a:p>
                      <a:pPr marL="0" indent="0">
                        <a:buFont typeface="Arial" panose="020B0604020202020204" pitchFamily="34" charset="0"/>
                        <a:buNone/>
                      </a:pPr>
                      <a:r>
                        <a:rPr lang="en-US" sz="1100" dirty="0">
                          <a:latin typeface="Arial" panose="020B0604020202020204" pitchFamily="34" charset="0"/>
                          <a:cs typeface="Arial" panose="020B0604020202020204" pitchFamily="34" charset="0"/>
                        </a:rPr>
                        <a:t>2. Controlled Extraction Sequence</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Mine using a </a:t>
                      </a:r>
                      <a:r>
                        <a:rPr lang="en-US" sz="1100" b="1" dirty="0">
                          <a:latin typeface="Arial" panose="020B0604020202020204" pitchFamily="34" charset="0"/>
                          <a:cs typeface="Arial" panose="020B0604020202020204" pitchFamily="34" charset="0"/>
                        </a:rPr>
                        <a:t>staggered sequence</a:t>
                      </a:r>
                      <a:r>
                        <a:rPr lang="en-US" sz="1100" dirty="0">
                          <a:latin typeface="Arial" panose="020B0604020202020204" pitchFamily="34" charset="0"/>
                          <a:cs typeface="Arial" panose="020B0604020202020204" pitchFamily="34" charset="0"/>
                        </a:rPr>
                        <a:t> to avoid creating large unsupported voids.</a:t>
                      </a:r>
                    </a:p>
                    <a:p>
                      <a:pPr marL="285750" indent="-285750">
                        <a:buFont typeface="Arial" panose="020B0604020202020204" pitchFamily="34" charset="0"/>
                        <a:buChar char="•"/>
                      </a:pPr>
                      <a:r>
                        <a:rPr lang="en-US" sz="1100" dirty="0">
                          <a:latin typeface="Arial" panose="020B0604020202020204" pitchFamily="34" charset="0"/>
                          <a:cs typeface="Arial" panose="020B0604020202020204" pitchFamily="34" charset="0"/>
                        </a:rPr>
                        <a:t>Use “pillar-and-room” or “sub-level </a:t>
                      </a:r>
                      <a:r>
                        <a:rPr lang="en-US" sz="1100" dirty="0" err="1">
                          <a:latin typeface="Arial" panose="020B0604020202020204" pitchFamily="34" charset="0"/>
                          <a:cs typeface="Arial" panose="020B0604020202020204" pitchFamily="34" charset="0"/>
                        </a:rPr>
                        <a:t>stoping</a:t>
                      </a:r>
                      <a:r>
                        <a:rPr lang="en-US" sz="1100" dirty="0">
                          <a:latin typeface="Arial" panose="020B0604020202020204" pitchFamily="34" charset="0"/>
                          <a:cs typeface="Arial" panose="020B0604020202020204" pitchFamily="34" charset="0"/>
                        </a:rPr>
                        <a:t>” designs adapted for extreme depths.</a:t>
                      </a:r>
                    </a:p>
                    <a:p>
                      <a:pPr marL="0" indent="0">
                        <a:buFont typeface="Arial" panose="020B0604020202020204" pitchFamily="34" charset="0"/>
                        <a:buNone/>
                      </a:pPr>
                      <a:r>
                        <a:rPr lang="en-US" sz="1100" dirty="0">
                          <a:latin typeface="Arial" panose="020B0604020202020204" pitchFamily="34" charset="0"/>
                          <a:cs typeface="Arial" panose="020B0604020202020204" pitchFamily="34" charset="0"/>
                        </a:rPr>
                        <a:t>3. Surface &amp; Subsurface Stability Monitoring</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Install </a:t>
                      </a:r>
                      <a:r>
                        <a:rPr lang="en-US" sz="1100" b="1" dirty="0">
                          <a:latin typeface="Arial" panose="020B0604020202020204" pitchFamily="34" charset="0"/>
                          <a:cs typeface="Arial" panose="020B0604020202020204" pitchFamily="34" charset="0"/>
                        </a:rPr>
                        <a:t>GPS-based surface displacement sensors</a:t>
                      </a:r>
                      <a:r>
                        <a:rPr lang="en-US" sz="1100" dirty="0">
                          <a:latin typeface="Arial" panose="020B0604020202020204" pitchFamily="34" charset="0"/>
                          <a:cs typeface="Arial" panose="020B0604020202020204" pitchFamily="34" charset="0"/>
                        </a:rPr>
                        <a:t> (mm-level accuracy).</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Use </a:t>
                      </a:r>
                      <a:r>
                        <a:rPr lang="en-US" sz="1100" b="1" dirty="0">
                          <a:latin typeface="Arial" panose="020B0604020202020204" pitchFamily="34" charset="0"/>
                          <a:cs typeface="Arial" panose="020B0604020202020204" pitchFamily="34" charset="0"/>
                        </a:rPr>
                        <a:t>InSAR satellite imaging</a:t>
                      </a:r>
                      <a:r>
                        <a:rPr lang="en-US" sz="1100" dirty="0">
                          <a:latin typeface="Arial" panose="020B0604020202020204" pitchFamily="34" charset="0"/>
                          <a:cs typeface="Arial" panose="020B0604020202020204" pitchFamily="34" charset="0"/>
                        </a:rPr>
                        <a:t> to detect early ground movement.</a:t>
                      </a:r>
                    </a:p>
                  </a:txBody>
                  <a:tcPr/>
                </a:tc>
                <a:extLst>
                  <a:ext uri="{0D108BD9-81ED-4DB2-BD59-A6C34878D82A}">
                    <a16:rowId xmlns:a16="http://schemas.microsoft.com/office/drawing/2014/main" val="1120353641"/>
                  </a:ext>
                </a:extLst>
              </a:tr>
            </a:tbl>
          </a:graphicData>
        </a:graphic>
      </p:graphicFrame>
    </p:spTree>
    <p:extLst>
      <p:ext uri="{BB962C8B-B14F-4D97-AF65-F5344CB8AC3E}">
        <p14:creationId xmlns:p14="http://schemas.microsoft.com/office/powerpoint/2010/main" val="2030313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250F0B-9578-C1FB-9454-3681FD6B75CA}"/>
              </a:ext>
            </a:extLst>
          </p:cNvPr>
          <p:cNvSpPr>
            <a:spLocks noGrp="1"/>
          </p:cNvSpPr>
          <p:nvPr>
            <p:ph idx="1"/>
          </p:nvPr>
        </p:nvSpPr>
        <p:spPr/>
        <p:txBody>
          <a:bodyPr>
            <a:normAutofit/>
          </a:bodyPr>
          <a:lstStyle/>
          <a:p>
            <a:r>
              <a:rPr lang="en-US" sz="1800" dirty="0">
                <a:latin typeface="Arial" panose="020B0604020202020204" pitchFamily="34" charset="0"/>
                <a:cs typeface="Arial" panose="020B0604020202020204" pitchFamily="34" charset="0"/>
              </a:rPr>
              <a:t>Task-3 – here I calculated the optimal depth for location </a:t>
            </a:r>
            <a:r>
              <a:rPr lang="en-US" sz="1800" dirty="0" err="1">
                <a:latin typeface="Arial" panose="020B0604020202020204" pitchFamily="34" charset="0"/>
                <a:cs typeface="Arial" panose="020B0604020202020204" pitchFamily="34" charset="0"/>
              </a:rPr>
              <a:t>a,b</a:t>
            </a:r>
            <a:r>
              <a:rPr lang="en-US" sz="1800" dirty="0">
                <a:latin typeface="Arial" panose="020B0604020202020204" pitchFamily="34" charset="0"/>
                <a:cs typeface="Arial" panose="020B0604020202020204" pitchFamily="34" charset="0"/>
              </a:rPr>
              <a:t> and c . I can for the few depth . I will make assumption of depth 8 for the task 4 for the location A.</a:t>
            </a:r>
          </a:p>
        </p:txBody>
      </p:sp>
    </p:spTree>
    <p:extLst>
      <p:ext uri="{BB962C8B-B14F-4D97-AF65-F5344CB8AC3E}">
        <p14:creationId xmlns:p14="http://schemas.microsoft.com/office/powerpoint/2010/main" val="2410114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9676A698-E3FE-F40D-1146-B0D5F889BB91}"/>
              </a:ext>
            </a:extLst>
          </p:cNvPr>
          <p:cNvGraphicFramePr>
            <a:graphicFrameLocks noGrp="1"/>
          </p:cNvGraphicFramePr>
          <p:nvPr>
            <p:ph idx="1"/>
            <p:extLst>
              <p:ext uri="{D42A27DB-BD31-4B8C-83A1-F6EECF244321}">
                <p14:modId xmlns:p14="http://schemas.microsoft.com/office/powerpoint/2010/main" val="2588869145"/>
              </p:ext>
            </p:extLst>
          </p:nvPr>
        </p:nvGraphicFramePr>
        <p:xfrm>
          <a:off x="533400" y="2009774"/>
          <a:ext cx="10668000" cy="378905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267135806"/>
                    </a:ext>
                  </a:extLst>
                </a:gridCol>
                <a:gridCol w="2667000">
                  <a:extLst>
                    <a:ext uri="{9D8B030D-6E8A-4147-A177-3AD203B41FA5}">
                      <a16:colId xmlns:a16="http://schemas.microsoft.com/office/drawing/2014/main" val="4259024496"/>
                    </a:ext>
                  </a:extLst>
                </a:gridCol>
                <a:gridCol w="2667000">
                  <a:extLst>
                    <a:ext uri="{9D8B030D-6E8A-4147-A177-3AD203B41FA5}">
                      <a16:colId xmlns:a16="http://schemas.microsoft.com/office/drawing/2014/main" val="1041456540"/>
                    </a:ext>
                  </a:extLst>
                </a:gridCol>
                <a:gridCol w="2667000">
                  <a:extLst>
                    <a:ext uri="{9D8B030D-6E8A-4147-A177-3AD203B41FA5}">
                      <a16:colId xmlns:a16="http://schemas.microsoft.com/office/drawing/2014/main" val="2926461828"/>
                    </a:ext>
                  </a:extLst>
                </a:gridCol>
              </a:tblGrid>
              <a:tr h="378905">
                <a:tc>
                  <a:txBody>
                    <a:bodyPr/>
                    <a:lstStyle/>
                    <a:p>
                      <a:r>
                        <a:rPr lang="en-US" dirty="0"/>
                        <a:t>Horizon </a:t>
                      </a:r>
                    </a:p>
                  </a:txBody>
                  <a:tcPr/>
                </a:tc>
                <a:tc>
                  <a:txBody>
                    <a:bodyPr/>
                    <a:lstStyle/>
                    <a:p>
                      <a:r>
                        <a:rPr lang="en-US" dirty="0"/>
                        <a:t>Location </a:t>
                      </a:r>
                    </a:p>
                  </a:txBody>
                  <a:tcPr/>
                </a:tc>
                <a:tc>
                  <a:txBody>
                    <a:bodyPr/>
                    <a:lstStyle/>
                    <a:p>
                      <a:r>
                        <a:rPr lang="en-US" dirty="0"/>
                        <a:t>Optimal depth</a:t>
                      </a:r>
                    </a:p>
                  </a:txBody>
                  <a:tcPr/>
                </a:tc>
                <a:tc>
                  <a:txBody>
                    <a:bodyPr/>
                    <a:lstStyle/>
                    <a:p>
                      <a:r>
                        <a:rPr lang="en-US" dirty="0"/>
                        <a:t>Profit(B </a:t>
                      </a:r>
                      <a:r>
                        <a:rPr lang="en-US" dirty="0" err="1"/>
                        <a:t>usd</a:t>
                      </a:r>
                      <a:r>
                        <a:rPr lang="en-US" dirty="0"/>
                        <a:t>/ton)</a:t>
                      </a:r>
                    </a:p>
                  </a:txBody>
                  <a:tcPr/>
                </a:tc>
                <a:extLst>
                  <a:ext uri="{0D108BD9-81ED-4DB2-BD59-A6C34878D82A}">
                    <a16:rowId xmlns:a16="http://schemas.microsoft.com/office/drawing/2014/main" val="3712014621"/>
                  </a:ext>
                </a:extLst>
              </a:tr>
              <a:tr h="378905">
                <a:tc>
                  <a:txBody>
                    <a:bodyPr/>
                    <a:lstStyle/>
                    <a:p>
                      <a:r>
                        <a:rPr lang="en-US" dirty="0"/>
                        <a:t>5(2030)</a:t>
                      </a:r>
                    </a:p>
                  </a:txBody>
                  <a:tcPr/>
                </a:tc>
                <a:tc>
                  <a:txBody>
                    <a:bodyPr/>
                    <a:lstStyle/>
                    <a:p>
                      <a:r>
                        <a:rPr lang="en-US" dirty="0"/>
                        <a:t>A</a:t>
                      </a:r>
                    </a:p>
                  </a:txBody>
                  <a:tcPr/>
                </a:tc>
                <a:tc>
                  <a:txBody>
                    <a:bodyPr/>
                    <a:lstStyle/>
                    <a:p>
                      <a:r>
                        <a:rPr lang="en-US" dirty="0"/>
                        <a:t>2</a:t>
                      </a:r>
                    </a:p>
                  </a:txBody>
                  <a:tcPr/>
                </a:tc>
                <a:tc>
                  <a:txBody>
                    <a:bodyPr/>
                    <a:lstStyle/>
                    <a:p>
                      <a:r>
                        <a:rPr lang="en-US" dirty="0"/>
                        <a:t>1408.4</a:t>
                      </a:r>
                    </a:p>
                  </a:txBody>
                  <a:tcPr/>
                </a:tc>
                <a:extLst>
                  <a:ext uri="{0D108BD9-81ED-4DB2-BD59-A6C34878D82A}">
                    <a16:rowId xmlns:a16="http://schemas.microsoft.com/office/drawing/2014/main" val="4217236197"/>
                  </a:ext>
                </a:extLst>
              </a:tr>
              <a:tr h="378905">
                <a:tc>
                  <a:txBody>
                    <a:bodyPr/>
                    <a:lstStyle/>
                    <a:p>
                      <a:r>
                        <a:rPr lang="en-US" dirty="0"/>
                        <a:t>10(2035)</a:t>
                      </a:r>
                    </a:p>
                  </a:txBody>
                  <a:tcPr/>
                </a:tc>
                <a:tc>
                  <a:txBody>
                    <a:bodyPr/>
                    <a:lstStyle/>
                    <a:p>
                      <a:r>
                        <a:rPr lang="en-US" dirty="0"/>
                        <a:t>A</a:t>
                      </a:r>
                    </a:p>
                  </a:txBody>
                  <a:tcPr/>
                </a:tc>
                <a:tc>
                  <a:txBody>
                    <a:bodyPr/>
                    <a:lstStyle/>
                    <a:p>
                      <a:r>
                        <a:rPr lang="en-US" dirty="0"/>
                        <a:t>4</a:t>
                      </a:r>
                    </a:p>
                  </a:txBody>
                  <a:tcPr/>
                </a:tc>
                <a:tc>
                  <a:txBody>
                    <a:bodyPr/>
                    <a:lstStyle/>
                    <a:p>
                      <a:r>
                        <a:rPr lang="en-US" dirty="0"/>
                        <a:t>3447.2</a:t>
                      </a:r>
                    </a:p>
                  </a:txBody>
                  <a:tcPr/>
                </a:tc>
                <a:extLst>
                  <a:ext uri="{0D108BD9-81ED-4DB2-BD59-A6C34878D82A}">
                    <a16:rowId xmlns:a16="http://schemas.microsoft.com/office/drawing/2014/main" val="2239297690"/>
                  </a:ext>
                </a:extLst>
              </a:tr>
              <a:tr h="378905">
                <a:tc>
                  <a:txBody>
                    <a:bodyPr/>
                    <a:lstStyle/>
                    <a:p>
                      <a:r>
                        <a:rPr lang="en-US" dirty="0"/>
                        <a:t>15(2040)</a:t>
                      </a:r>
                    </a:p>
                  </a:txBody>
                  <a:tcPr/>
                </a:tc>
                <a:tc>
                  <a:txBody>
                    <a:bodyPr/>
                    <a:lstStyle/>
                    <a:p>
                      <a:r>
                        <a:rPr lang="en-US" dirty="0"/>
                        <a:t>A</a:t>
                      </a:r>
                    </a:p>
                  </a:txBody>
                  <a:tcPr/>
                </a:tc>
                <a:tc>
                  <a:txBody>
                    <a:bodyPr/>
                    <a:lstStyle/>
                    <a:p>
                      <a:r>
                        <a:rPr lang="en-US" dirty="0"/>
                        <a:t>8</a:t>
                      </a:r>
                    </a:p>
                  </a:txBody>
                  <a:tcPr/>
                </a:tc>
                <a:tc>
                  <a:txBody>
                    <a:bodyPr/>
                    <a:lstStyle/>
                    <a:p>
                      <a:r>
                        <a:rPr lang="en-US" dirty="0"/>
                        <a:t>9644.6</a:t>
                      </a:r>
                    </a:p>
                  </a:txBody>
                  <a:tcPr/>
                </a:tc>
                <a:extLst>
                  <a:ext uri="{0D108BD9-81ED-4DB2-BD59-A6C34878D82A}">
                    <a16:rowId xmlns:a16="http://schemas.microsoft.com/office/drawing/2014/main" val="2996281081"/>
                  </a:ext>
                </a:extLst>
              </a:tr>
              <a:tr h="378905">
                <a:tc>
                  <a:txBody>
                    <a:bodyPr/>
                    <a:lstStyle/>
                    <a:p>
                      <a:r>
                        <a:rPr lang="en-US" dirty="0"/>
                        <a:t>5(2030)</a:t>
                      </a:r>
                    </a:p>
                  </a:txBody>
                  <a:tcPr/>
                </a:tc>
                <a:tc>
                  <a:txBody>
                    <a:bodyPr/>
                    <a:lstStyle/>
                    <a:p>
                      <a:r>
                        <a:rPr lang="en-US" dirty="0"/>
                        <a:t>B</a:t>
                      </a:r>
                    </a:p>
                  </a:txBody>
                  <a:tcPr/>
                </a:tc>
                <a:tc>
                  <a:txBody>
                    <a:bodyPr/>
                    <a:lstStyle/>
                    <a:p>
                      <a:r>
                        <a:rPr lang="en-US" dirty="0"/>
                        <a:t>6</a:t>
                      </a:r>
                    </a:p>
                  </a:txBody>
                  <a:tcPr/>
                </a:tc>
                <a:tc>
                  <a:txBody>
                    <a:bodyPr/>
                    <a:lstStyle/>
                    <a:p>
                      <a:r>
                        <a:rPr lang="en-US" dirty="0"/>
                        <a:t>3438.24</a:t>
                      </a:r>
                    </a:p>
                  </a:txBody>
                  <a:tcPr/>
                </a:tc>
                <a:extLst>
                  <a:ext uri="{0D108BD9-81ED-4DB2-BD59-A6C34878D82A}">
                    <a16:rowId xmlns:a16="http://schemas.microsoft.com/office/drawing/2014/main" val="215894724"/>
                  </a:ext>
                </a:extLst>
              </a:tr>
              <a:tr h="378905">
                <a:tc>
                  <a:txBody>
                    <a:bodyPr/>
                    <a:lstStyle/>
                    <a:p>
                      <a:r>
                        <a:rPr lang="en-US" dirty="0"/>
                        <a:t>10(2035)</a:t>
                      </a:r>
                    </a:p>
                  </a:txBody>
                  <a:tcPr/>
                </a:tc>
                <a:tc>
                  <a:txBody>
                    <a:bodyPr/>
                    <a:lstStyle/>
                    <a:p>
                      <a:r>
                        <a:rPr lang="en-US" dirty="0"/>
                        <a:t>B</a:t>
                      </a:r>
                    </a:p>
                  </a:txBody>
                  <a:tcPr/>
                </a:tc>
                <a:tc>
                  <a:txBody>
                    <a:bodyPr/>
                    <a:lstStyle/>
                    <a:p>
                      <a:r>
                        <a:rPr lang="en-US" dirty="0"/>
                        <a:t>10</a:t>
                      </a:r>
                    </a:p>
                  </a:txBody>
                  <a:tcPr/>
                </a:tc>
                <a:tc>
                  <a:txBody>
                    <a:bodyPr/>
                    <a:lstStyle/>
                    <a:p>
                      <a:r>
                        <a:rPr lang="en-US" dirty="0"/>
                        <a:t>3007.7</a:t>
                      </a:r>
                    </a:p>
                  </a:txBody>
                  <a:tcPr/>
                </a:tc>
                <a:extLst>
                  <a:ext uri="{0D108BD9-81ED-4DB2-BD59-A6C34878D82A}">
                    <a16:rowId xmlns:a16="http://schemas.microsoft.com/office/drawing/2014/main" val="3284570898"/>
                  </a:ext>
                </a:extLst>
              </a:tr>
              <a:tr h="378905">
                <a:tc>
                  <a:txBody>
                    <a:bodyPr/>
                    <a:lstStyle/>
                    <a:p>
                      <a:r>
                        <a:rPr lang="en-US" dirty="0"/>
                        <a:t>15(2040)</a:t>
                      </a:r>
                    </a:p>
                  </a:txBody>
                  <a:tcPr/>
                </a:tc>
                <a:tc>
                  <a:txBody>
                    <a:bodyPr/>
                    <a:lstStyle/>
                    <a:p>
                      <a:r>
                        <a:rPr lang="en-US" dirty="0"/>
                        <a:t>B</a:t>
                      </a:r>
                    </a:p>
                  </a:txBody>
                  <a:tcPr/>
                </a:tc>
                <a:tc>
                  <a:txBody>
                    <a:bodyPr/>
                    <a:lstStyle/>
                    <a:p>
                      <a:r>
                        <a:rPr lang="en-US" dirty="0"/>
                        <a:t>12</a:t>
                      </a:r>
                    </a:p>
                  </a:txBody>
                  <a:tcPr/>
                </a:tc>
                <a:tc>
                  <a:txBody>
                    <a:bodyPr/>
                    <a:lstStyle/>
                    <a:p>
                      <a:r>
                        <a:rPr lang="en-US" dirty="0"/>
                        <a:t>5734.6</a:t>
                      </a:r>
                    </a:p>
                  </a:txBody>
                  <a:tcPr/>
                </a:tc>
                <a:extLst>
                  <a:ext uri="{0D108BD9-81ED-4DB2-BD59-A6C34878D82A}">
                    <a16:rowId xmlns:a16="http://schemas.microsoft.com/office/drawing/2014/main" val="1284834187"/>
                  </a:ext>
                </a:extLst>
              </a:tr>
              <a:tr h="378905">
                <a:tc>
                  <a:txBody>
                    <a:bodyPr/>
                    <a:lstStyle/>
                    <a:p>
                      <a:r>
                        <a:rPr lang="en-US" dirty="0"/>
                        <a:t>5(2030)</a:t>
                      </a:r>
                    </a:p>
                  </a:txBody>
                  <a:tcPr/>
                </a:tc>
                <a:tc>
                  <a:txBody>
                    <a:bodyPr/>
                    <a:lstStyle/>
                    <a:p>
                      <a:r>
                        <a:rPr lang="en-US" dirty="0"/>
                        <a:t>C</a:t>
                      </a:r>
                    </a:p>
                  </a:txBody>
                  <a:tcPr/>
                </a:tc>
                <a:tc>
                  <a:txBody>
                    <a:bodyPr/>
                    <a:lstStyle/>
                    <a:p>
                      <a:r>
                        <a:rPr lang="en-US" dirty="0"/>
                        <a:t>4</a:t>
                      </a:r>
                    </a:p>
                  </a:txBody>
                  <a:tcPr/>
                </a:tc>
                <a:tc>
                  <a:txBody>
                    <a:bodyPr/>
                    <a:lstStyle/>
                    <a:p>
                      <a:r>
                        <a:rPr lang="en-US" dirty="0"/>
                        <a:t>824.6</a:t>
                      </a:r>
                    </a:p>
                  </a:txBody>
                  <a:tcPr/>
                </a:tc>
                <a:extLst>
                  <a:ext uri="{0D108BD9-81ED-4DB2-BD59-A6C34878D82A}">
                    <a16:rowId xmlns:a16="http://schemas.microsoft.com/office/drawing/2014/main" val="1248650054"/>
                  </a:ext>
                </a:extLst>
              </a:tr>
              <a:tr h="378905">
                <a:tc>
                  <a:txBody>
                    <a:bodyPr/>
                    <a:lstStyle/>
                    <a:p>
                      <a:r>
                        <a:rPr lang="en-US" dirty="0"/>
                        <a:t>10(2035)</a:t>
                      </a:r>
                    </a:p>
                  </a:txBody>
                  <a:tcPr/>
                </a:tc>
                <a:tc>
                  <a:txBody>
                    <a:bodyPr/>
                    <a:lstStyle/>
                    <a:p>
                      <a:r>
                        <a:rPr lang="en-US" dirty="0"/>
                        <a:t>C</a:t>
                      </a:r>
                    </a:p>
                  </a:txBody>
                  <a:tcPr/>
                </a:tc>
                <a:tc>
                  <a:txBody>
                    <a:bodyPr/>
                    <a:lstStyle/>
                    <a:p>
                      <a:r>
                        <a:rPr lang="en-US" dirty="0"/>
                        <a:t>4</a:t>
                      </a:r>
                    </a:p>
                  </a:txBody>
                  <a:tcPr/>
                </a:tc>
                <a:tc>
                  <a:txBody>
                    <a:bodyPr/>
                    <a:lstStyle/>
                    <a:p>
                      <a:r>
                        <a:rPr lang="en-US" dirty="0"/>
                        <a:t>1905.9</a:t>
                      </a:r>
                    </a:p>
                  </a:txBody>
                  <a:tcPr/>
                </a:tc>
                <a:extLst>
                  <a:ext uri="{0D108BD9-81ED-4DB2-BD59-A6C34878D82A}">
                    <a16:rowId xmlns:a16="http://schemas.microsoft.com/office/drawing/2014/main" val="699764470"/>
                  </a:ext>
                </a:extLst>
              </a:tr>
              <a:tr h="378905">
                <a:tc>
                  <a:txBody>
                    <a:bodyPr/>
                    <a:lstStyle/>
                    <a:p>
                      <a:r>
                        <a:rPr lang="en-US" dirty="0"/>
                        <a:t>15(2040)</a:t>
                      </a:r>
                    </a:p>
                  </a:txBody>
                  <a:tcPr/>
                </a:tc>
                <a:tc>
                  <a:txBody>
                    <a:bodyPr/>
                    <a:lstStyle/>
                    <a:p>
                      <a:r>
                        <a:rPr lang="en-US" dirty="0"/>
                        <a:t>C</a:t>
                      </a:r>
                    </a:p>
                  </a:txBody>
                  <a:tcPr/>
                </a:tc>
                <a:tc>
                  <a:txBody>
                    <a:bodyPr/>
                    <a:lstStyle/>
                    <a:p>
                      <a:r>
                        <a:rPr lang="en-US" dirty="0"/>
                        <a:t>4</a:t>
                      </a:r>
                    </a:p>
                  </a:txBody>
                  <a:tcPr/>
                </a:tc>
                <a:tc>
                  <a:txBody>
                    <a:bodyPr/>
                    <a:lstStyle/>
                    <a:p>
                      <a:r>
                        <a:rPr lang="en-US" dirty="0"/>
                        <a:t>2908.6</a:t>
                      </a:r>
                    </a:p>
                  </a:txBody>
                  <a:tcPr/>
                </a:tc>
                <a:extLst>
                  <a:ext uri="{0D108BD9-81ED-4DB2-BD59-A6C34878D82A}">
                    <a16:rowId xmlns:a16="http://schemas.microsoft.com/office/drawing/2014/main" val="3529362152"/>
                  </a:ext>
                </a:extLst>
              </a:tr>
            </a:tbl>
          </a:graphicData>
        </a:graphic>
      </p:graphicFrame>
    </p:spTree>
    <p:extLst>
      <p:ext uri="{BB962C8B-B14F-4D97-AF65-F5344CB8AC3E}">
        <p14:creationId xmlns:p14="http://schemas.microsoft.com/office/powerpoint/2010/main" val="963034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BD88-8BCA-013C-B552-D5F7DB382242}"/>
              </a:ext>
            </a:extLst>
          </p:cNvPr>
          <p:cNvSpPr>
            <a:spLocks noGrp="1"/>
          </p:cNvSpPr>
          <p:nvPr>
            <p:ph type="title"/>
          </p:nvPr>
        </p:nvSpPr>
        <p:spPr/>
        <p:txBody>
          <a:bodyPr>
            <a:normAutofit/>
          </a:bodyPr>
          <a:lstStyle/>
          <a:p>
            <a:r>
              <a:rPr lang="en-US" sz="2000" b="1" dirty="0">
                <a:latin typeface="Arial" panose="020B0604020202020204" pitchFamily="34" charset="0"/>
                <a:cs typeface="Arial" panose="020B0604020202020204" pitchFamily="34" charset="0"/>
              </a:rPr>
              <a:t>Task 4- assume depth 8 and location A</a:t>
            </a:r>
          </a:p>
        </p:txBody>
      </p:sp>
      <p:sp>
        <p:nvSpPr>
          <p:cNvPr id="3" name="Content Placeholder 2">
            <a:extLst>
              <a:ext uri="{FF2B5EF4-FFF2-40B4-BE49-F238E27FC236}">
                <a16:creationId xmlns:a16="http://schemas.microsoft.com/office/drawing/2014/main" id="{F357F21D-6C1D-CF66-F641-63D50F4A5E94}"/>
              </a:ext>
            </a:extLst>
          </p:cNvPr>
          <p:cNvSpPr>
            <a:spLocks noGrp="1"/>
          </p:cNvSpPr>
          <p:nvPr>
            <p:ph idx="1"/>
          </p:nvPr>
        </p:nvSpPr>
        <p:spPr/>
        <p:txBody>
          <a:bodyPr/>
          <a:lstStyle/>
          <a:p>
            <a:r>
              <a:rPr lang="en-US" b="1" dirty="0">
                <a:latin typeface="Arial" panose="020B0604020202020204" pitchFamily="34" charset="0"/>
                <a:cs typeface="Arial" panose="020B0604020202020204" pitchFamily="34" charset="0"/>
              </a:rPr>
              <a:t>For this task I will choose the top 7 minerals:</a:t>
            </a:r>
          </a:p>
          <a:p>
            <a:endParaRPr lang="en-US" dirty="0"/>
          </a:p>
        </p:txBody>
      </p:sp>
      <p:graphicFrame>
        <p:nvGraphicFramePr>
          <p:cNvPr id="4" name="Table 3">
            <a:extLst>
              <a:ext uri="{FF2B5EF4-FFF2-40B4-BE49-F238E27FC236}">
                <a16:creationId xmlns:a16="http://schemas.microsoft.com/office/drawing/2014/main" id="{84BBFFB9-B2F3-20F5-7DC9-09280BA1DE27}"/>
              </a:ext>
            </a:extLst>
          </p:cNvPr>
          <p:cNvGraphicFramePr>
            <a:graphicFrameLocks noGrp="1"/>
          </p:cNvGraphicFramePr>
          <p:nvPr>
            <p:extLst>
              <p:ext uri="{D42A27DB-BD31-4B8C-83A1-F6EECF244321}">
                <p14:modId xmlns:p14="http://schemas.microsoft.com/office/powerpoint/2010/main" val="1071461576"/>
              </p:ext>
            </p:extLst>
          </p:nvPr>
        </p:nvGraphicFramePr>
        <p:xfrm>
          <a:off x="1266092" y="2592473"/>
          <a:ext cx="3768132" cy="2592478"/>
        </p:xfrm>
        <a:graphic>
          <a:graphicData uri="http://schemas.openxmlformats.org/drawingml/2006/table">
            <a:tbl>
              <a:tblPr>
                <a:tableStyleId>{5C22544A-7EE6-4342-B048-85BDC9FD1C3A}</a:tableStyleId>
              </a:tblPr>
              <a:tblGrid>
                <a:gridCol w="3768132">
                  <a:extLst>
                    <a:ext uri="{9D8B030D-6E8A-4147-A177-3AD203B41FA5}">
                      <a16:colId xmlns:a16="http://schemas.microsoft.com/office/drawing/2014/main" val="369610398"/>
                    </a:ext>
                  </a:extLst>
                </a:gridCol>
              </a:tblGrid>
              <a:tr h="370354">
                <a:tc>
                  <a:txBody>
                    <a:bodyPr/>
                    <a:lstStyle/>
                    <a:p>
                      <a:pPr algn="ctr" fontAlgn="t">
                        <a:buNone/>
                      </a:pPr>
                      <a:r>
                        <a:rPr lang="en-US" sz="1100" u="none" strike="noStrike" dirty="0">
                          <a:effectLst/>
                        </a:rPr>
                        <a:t>Lithium</a:t>
                      </a:r>
                      <a:endParaRPr lang="en-US" sz="1100" b="1" i="0" u="none" strike="noStrike" dirty="0">
                        <a:solidFill>
                          <a:srgbClr val="000000"/>
                        </a:solidFill>
                        <a:effectLst/>
                        <a:latin typeface="Aptos Narrow" panose="020B0004020202020204" pitchFamily="34" charset="0"/>
                      </a:endParaRPr>
                    </a:p>
                  </a:txBody>
                  <a:tcPr marL="7620" marR="7620" marT="7620" marB="0"/>
                </a:tc>
                <a:extLst>
                  <a:ext uri="{0D108BD9-81ED-4DB2-BD59-A6C34878D82A}">
                    <a16:rowId xmlns:a16="http://schemas.microsoft.com/office/drawing/2014/main" val="1320380990"/>
                  </a:ext>
                </a:extLst>
              </a:tr>
              <a:tr h="370354">
                <a:tc>
                  <a:txBody>
                    <a:bodyPr/>
                    <a:lstStyle/>
                    <a:p>
                      <a:pPr algn="ctr" fontAlgn="t">
                        <a:buNone/>
                      </a:pPr>
                      <a:r>
                        <a:rPr lang="en-US" sz="1100" u="none" strike="noStrike">
                          <a:effectLst/>
                        </a:rPr>
                        <a:t>Lead</a:t>
                      </a:r>
                      <a:endParaRPr lang="en-US" sz="1100" b="1" i="0" u="none" strike="noStrike">
                        <a:solidFill>
                          <a:srgbClr val="000000"/>
                        </a:solidFill>
                        <a:effectLst/>
                        <a:latin typeface="Aptos Narrow" panose="020B0004020202020204" pitchFamily="34" charset="0"/>
                      </a:endParaRPr>
                    </a:p>
                  </a:txBody>
                  <a:tcPr marL="7620" marR="7620" marT="7620" marB="0"/>
                </a:tc>
                <a:extLst>
                  <a:ext uri="{0D108BD9-81ED-4DB2-BD59-A6C34878D82A}">
                    <a16:rowId xmlns:a16="http://schemas.microsoft.com/office/drawing/2014/main" val="3360107993"/>
                  </a:ext>
                </a:extLst>
              </a:tr>
              <a:tr h="370354">
                <a:tc>
                  <a:txBody>
                    <a:bodyPr/>
                    <a:lstStyle/>
                    <a:p>
                      <a:pPr algn="ctr" fontAlgn="t">
                        <a:buNone/>
                      </a:pPr>
                      <a:r>
                        <a:rPr lang="en-US" sz="1100" u="none" strike="noStrike">
                          <a:effectLst/>
                        </a:rPr>
                        <a:t>Zinc</a:t>
                      </a:r>
                      <a:endParaRPr lang="en-US" sz="1100" b="1" i="0" u="none" strike="noStrike">
                        <a:solidFill>
                          <a:srgbClr val="000000"/>
                        </a:solidFill>
                        <a:effectLst/>
                        <a:latin typeface="Aptos Narrow" panose="020B0004020202020204" pitchFamily="34" charset="0"/>
                      </a:endParaRPr>
                    </a:p>
                  </a:txBody>
                  <a:tcPr marL="7620" marR="7620" marT="7620" marB="0"/>
                </a:tc>
                <a:extLst>
                  <a:ext uri="{0D108BD9-81ED-4DB2-BD59-A6C34878D82A}">
                    <a16:rowId xmlns:a16="http://schemas.microsoft.com/office/drawing/2014/main" val="2839334750"/>
                  </a:ext>
                </a:extLst>
              </a:tr>
              <a:tr h="370354">
                <a:tc>
                  <a:txBody>
                    <a:bodyPr/>
                    <a:lstStyle/>
                    <a:p>
                      <a:pPr algn="ctr" fontAlgn="t">
                        <a:buNone/>
                      </a:pPr>
                      <a:r>
                        <a:rPr lang="en-US" sz="1100" u="none" strike="noStrike">
                          <a:effectLst/>
                        </a:rPr>
                        <a:t>Chromium</a:t>
                      </a:r>
                      <a:endParaRPr lang="en-US" sz="1100" b="1" i="0" u="none" strike="noStrike">
                        <a:solidFill>
                          <a:srgbClr val="000000"/>
                        </a:solidFill>
                        <a:effectLst/>
                        <a:latin typeface="Aptos Narrow" panose="020B0004020202020204" pitchFamily="34" charset="0"/>
                      </a:endParaRPr>
                    </a:p>
                  </a:txBody>
                  <a:tcPr marL="7620" marR="7620" marT="7620" marB="0"/>
                </a:tc>
                <a:extLst>
                  <a:ext uri="{0D108BD9-81ED-4DB2-BD59-A6C34878D82A}">
                    <a16:rowId xmlns:a16="http://schemas.microsoft.com/office/drawing/2014/main" val="504839132"/>
                  </a:ext>
                </a:extLst>
              </a:tr>
              <a:tr h="370354">
                <a:tc>
                  <a:txBody>
                    <a:bodyPr/>
                    <a:lstStyle/>
                    <a:p>
                      <a:pPr algn="ctr" fontAlgn="t">
                        <a:buNone/>
                      </a:pPr>
                      <a:r>
                        <a:rPr lang="en-US" sz="1100" u="none" strike="noStrike">
                          <a:effectLst/>
                        </a:rPr>
                        <a:t>Tin</a:t>
                      </a:r>
                      <a:endParaRPr lang="en-US" sz="1100" b="1" i="0" u="none" strike="noStrike">
                        <a:solidFill>
                          <a:srgbClr val="000000"/>
                        </a:solidFill>
                        <a:effectLst/>
                        <a:latin typeface="Aptos Narrow" panose="020B0004020202020204" pitchFamily="34" charset="0"/>
                      </a:endParaRPr>
                    </a:p>
                  </a:txBody>
                  <a:tcPr marL="7620" marR="7620" marT="7620" marB="0"/>
                </a:tc>
                <a:extLst>
                  <a:ext uri="{0D108BD9-81ED-4DB2-BD59-A6C34878D82A}">
                    <a16:rowId xmlns:a16="http://schemas.microsoft.com/office/drawing/2014/main" val="2364804669"/>
                  </a:ext>
                </a:extLst>
              </a:tr>
              <a:tr h="370354">
                <a:tc>
                  <a:txBody>
                    <a:bodyPr/>
                    <a:lstStyle/>
                    <a:p>
                      <a:pPr algn="ctr" fontAlgn="t">
                        <a:buNone/>
                      </a:pPr>
                      <a:r>
                        <a:rPr lang="en-US" sz="1100" u="none" strike="noStrike">
                          <a:effectLst/>
                        </a:rPr>
                        <a:t>Antimony</a:t>
                      </a:r>
                      <a:endParaRPr lang="en-US" sz="1100" b="1" i="0" u="none" strike="noStrike">
                        <a:solidFill>
                          <a:srgbClr val="000000"/>
                        </a:solidFill>
                        <a:effectLst/>
                        <a:latin typeface="Aptos Narrow" panose="020B0004020202020204" pitchFamily="34" charset="0"/>
                      </a:endParaRPr>
                    </a:p>
                  </a:txBody>
                  <a:tcPr marL="7620" marR="7620" marT="7620" marB="0"/>
                </a:tc>
                <a:extLst>
                  <a:ext uri="{0D108BD9-81ED-4DB2-BD59-A6C34878D82A}">
                    <a16:rowId xmlns:a16="http://schemas.microsoft.com/office/drawing/2014/main" val="439177929"/>
                  </a:ext>
                </a:extLst>
              </a:tr>
              <a:tr h="370354">
                <a:tc>
                  <a:txBody>
                    <a:bodyPr/>
                    <a:lstStyle/>
                    <a:p>
                      <a:pPr algn="ctr" fontAlgn="t">
                        <a:buNone/>
                      </a:pPr>
                      <a:r>
                        <a:rPr lang="en-US" sz="1100" u="none" strike="noStrike" dirty="0">
                          <a:effectLst/>
                        </a:rPr>
                        <a:t>Cobalt</a:t>
                      </a:r>
                      <a:endParaRPr lang="en-US" sz="1100" b="1" i="0" u="none" strike="noStrike" dirty="0">
                        <a:solidFill>
                          <a:srgbClr val="000000"/>
                        </a:solidFill>
                        <a:effectLst/>
                        <a:latin typeface="Aptos Narrow" panose="020B0004020202020204" pitchFamily="34" charset="0"/>
                      </a:endParaRPr>
                    </a:p>
                  </a:txBody>
                  <a:tcPr marL="7620" marR="7620" marT="7620" marB="0"/>
                </a:tc>
                <a:extLst>
                  <a:ext uri="{0D108BD9-81ED-4DB2-BD59-A6C34878D82A}">
                    <a16:rowId xmlns:a16="http://schemas.microsoft.com/office/drawing/2014/main" val="3712465999"/>
                  </a:ext>
                </a:extLst>
              </a:tr>
            </a:tbl>
          </a:graphicData>
        </a:graphic>
      </p:graphicFrame>
    </p:spTree>
    <p:extLst>
      <p:ext uri="{BB962C8B-B14F-4D97-AF65-F5344CB8AC3E}">
        <p14:creationId xmlns:p14="http://schemas.microsoft.com/office/powerpoint/2010/main" val="350219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F29CB-B331-6115-20A6-F1F2F4C3F701}"/>
              </a:ext>
            </a:extLst>
          </p:cNvPr>
          <p:cNvSpPr>
            <a:spLocks noGrp="1"/>
          </p:cNvSpPr>
          <p:nvPr>
            <p:ph type="title"/>
          </p:nvPr>
        </p:nvSpPr>
        <p:spPr/>
        <p:txBody>
          <a:bodyPr>
            <a:normAutofit/>
          </a:bodyPr>
          <a:lstStyle/>
          <a:p>
            <a:r>
              <a:rPr lang="en-US" sz="2400" b="1" i="0" dirty="0">
                <a:latin typeface="Arial" panose="020B0604020202020204" pitchFamily="34" charset="0"/>
                <a:cs typeface="Arial" panose="020B0604020202020204" pitchFamily="34" charset="0"/>
              </a:rPr>
              <a:t>TASK5-</a:t>
            </a:r>
          </a:p>
        </p:txBody>
      </p:sp>
      <p:sp>
        <p:nvSpPr>
          <p:cNvPr id="3" name="Content Placeholder 2">
            <a:extLst>
              <a:ext uri="{FF2B5EF4-FFF2-40B4-BE49-F238E27FC236}">
                <a16:creationId xmlns:a16="http://schemas.microsoft.com/office/drawing/2014/main" id="{4D40BCEB-135D-58C4-ADE1-46CA82D8F630}"/>
              </a:ext>
            </a:extLst>
          </p:cNvPr>
          <p:cNvSpPr>
            <a:spLocks noGrp="1"/>
          </p:cNvSpPr>
          <p:nvPr>
            <p:ph idx="1"/>
          </p:nvPr>
        </p:nvSpPr>
        <p:spPr/>
        <p:txBody>
          <a:bodyPr>
            <a:normAutofit/>
          </a:bodyPr>
          <a:lstStyle/>
          <a:p>
            <a:pPr marL="0" indent="0">
              <a:buNone/>
            </a:pPr>
            <a:r>
              <a:rPr lang="en-US" sz="1800" dirty="0">
                <a:latin typeface="Arial" panose="020B0604020202020204" pitchFamily="34" charset="0"/>
                <a:cs typeface="Arial" panose="020B0604020202020204" pitchFamily="34" charset="0"/>
              </a:rPr>
              <a:t>I would treat this as a multi-period portfolio </a:t>
            </a:r>
            <a:r>
              <a:rPr lang="en-US" sz="1800" dirty="0" err="1">
                <a:latin typeface="Arial" panose="020B0604020202020204" pitchFamily="34" charset="0"/>
                <a:cs typeface="Arial" panose="020B0604020202020204" pitchFamily="34" charset="0"/>
              </a:rPr>
              <a:t>optimisation</a:t>
            </a:r>
            <a:r>
              <a:rPr lang="en-US" sz="1800" dirty="0">
                <a:latin typeface="Arial" panose="020B0604020202020204" pitchFamily="34" charset="0"/>
                <a:cs typeface="Arial" panose="020B0604020202020204" pitchFamily="34" charset="0"/>
              </a:rPr>
              <a:t> problem for Location A. </a:t>
            </a:r>
            <a:r>
              <a:rPr lang="en-US" sz="1800" dirty="0" err="1">
                <a:latin typeface="Arial" panose="020B0604020202020204" pitchFamily="34" charset="0"/>
                <a:cs typeface="Arial" panose="020B0604020202020204" pitchFamily="34" charset="0"/>
              </a:rPr>
              <a:t>First,I</a:t>
            </a:r>
            <a:r>
              <a:rPr lang="en-US" sz="1800" dirty="0">
                <a:latin typeface="Arial" panose="020B0604020202020204" pitchFamily="34" charset="0"/>
                <a:cs typeface="Arial" panose="020B0604020202020204" pitchFamily="34" charset="0"/>
              </a:rPr>
              <a:t> compute per mineral margins vs depth then define a few operating modes (shallow/mid/deep) and rank minerals by margin and demand growth. Using an </a:t>
            </a:r>
            <a:r>
              <a:rPr lang="en-US" sz="1800" dirty="0" err="1">
                <a:latin typeface="Arial" panose="020B0604020202020204" pitchFamily="34" charset="0"/>
                <a:cs typeface="Arial" panose="020B0604020202020204" pitchFamily="34" charset="0"/>
              </a:rPr>
              <a:t>optimisation</a:t>
            </a:r>
            <a:r>
              <a:rPr lang="en-US" sz="1800" dirty="0">
                <a:latin typeface="Arial" panose="020B0604020202020204" pitchFamily="34" charset="0"/>
                <a:cs typeface="Arial" panose="020B0604020202020204" pitchFamily="34" charset="0"/>
              </a:rPr>
              <a:t> model with decisions on depth per phase and ore quantity per mineral per year, I design a phased plan: shallow high-margin mining in the first 5 years, expansion into deeper, high-grade minerals in 5–10 years, and an optional deep-mining phase in 10–15 years if price scenarios justify it. The model is rerun periodically as market conditions change, so the strategy is dynamic, not static.</a:t>
            </a:r>
          </a:p>
          <a:p>
            <a:pPr marL="0" indent="0">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1938518"/>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docProps/app.xml><?xml version="1.0" encoding="utf-8"?>
<Properties xmlns="http://schemas.openxmlformats.org/officeDocument/2006/extended-properties" xmlns:vt="http://schemas.openxmlformats.org/officeDocument/2006/docPropsVTypes">
  <TotalTime>1131</TotalTime>
  <Words>1451</Words>
  <Application>Microsoft Office PowerPoint</Application>
  <PresentationFormat>Widescreen</PresentationFormat>
  <Paragraphs>154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 Narrow</vt:lpstr>
      <vt:lpstr>Arial</vt:lpstr>
      <vt:lpstr>Univers Condensed Light</vt:lpstr>
      <vt:lpstr>Walbaum Display Light</vt:lpstr>
      <vt:lpstr>AngleLinesVTI</vt:lpstr>
      <vt:lpstr>PowerPoint Presentation</vt:lpstr>
      <vt:lpstr>PowerPoint Presentation</vt:lpstr>
      <vt:lpstr>PowerPoint Presentation</vt:lpstr>
      <vt:lpstr>Task-2</vt:lpstr>
      <vt:lpstr>PowerPoint Presentation</vt:lpstr>
      <vt:lpstr>PowerPoint Presentation</vt:lpstr>
      <vt:lpstr>PowerPoint Presentation</vt:lpstr>
      <vt:lpstr>Task 4- assume depth 8 and location A</vt:lpstr>
      <vt:lpstr>TASK5-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Kameshwar</dc:creator>
  <cp:lastModifiedBy>Kameshwar</cp:lastModifiedBy>
  <cp:revision>2</cp:revision>
  <dcterms:created xsi:type="dcterms:W3CDTF">2025-12-02T23:21:33Z</dcterms:created>
  <dcterms:modified xsi:type="dcterms:W3CDTF">2025-12-03T18:13:13Z</dcterms:modified>
</cp:coreProperties>
</file>